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Nunito SemiBold"/>
      <p:regular r:id="rId17"/>
      <p:bold r:id="rId18"/>
      <p:italic r:id="rId19"/>
      <p:boldItalic r:id="rId20"/>
    </p:embeddedFont>
    <p:embeddedFont>
      <p:font typeface="PT Sans"/>
      <p:regular r:id="rId21"/>
      <p:bold r:id="rId22"/>
      <p:italic r:id="rId23"/>
      <p:boldItalic r:id="rId24"/>
    </p:embeddedFont>
    <p:embeddedFont>
      <p:font typeface="Nunito Ligh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0q9zH4lbn/ycdK6tZQ+tIJqsH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unitoSemiBold-boldItalic.fntdata"/><Relationship Id="rId22" Type="http://schemas.openxmlformats.org/officeDocument/2006/relationships/font" Target="fonts/PTSans-bold.fntdata"/><Relationship Id="rId21" Type="http://schemas.openxmlformats.org/officeDocument/2006/relationships/font" Target="fonts/PTSans-regular.fntdata"/><Relationship Id="rId24" Type="http://schemas.openxmlformats.org/officeDocument/2006/relationships/font" Target="fonts/PTSans-boldItalic.fntdata"/><Relationship Id="rId23" Type="http://schemas.openxmlformats.org/officeDocument/2006/relationships/font" Target="fonts/PT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unitoLight-bold.fntdata"/><Relationship Id="rId25" Type="http://schemas.openxmlformats.org/officeDocument/2006/relationships/font" Target="fonts/NunitoLight-regular.fntdata"/><Relationship Id="rId28" Type="http://schemas.openxmlformats.org/officeDocument/2006/relationships/font" Target="fonts/NunitoLight-boldItalic.fntdata"/><Relationship Id="rId27" Type="http://schemas.openxmlformats.org/officeDocument/2006/relationships/font" Target="fonts/NunitoLight-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NunitoSemiBold-regular.fntdata"/><Relationship Id="rId16" Type="http://schemas.openxmlformats.org/officeDocument/2006/relationships/slide" Target="slides/slide12.xml"/><Relationship Id="rId19" Type="http://schemas.openxmlformats.org/officeDocument/2006/relationships/font" Target="fonts/NunitoSemiBold-italic.fntdata"/><Relationship Id="rId18" Type="http://schemas.openxmlformats.org/officeDocument/2006/relationships/font" Target="fonts/Nunito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1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 name="Google Shape;12;p14"/>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pic>
        <p:nvPicPr>
          <p:cNvPr descr="preencoded.png" id="14" name="Google Shape;14;p1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5" name="Google Shape;15;p15"/>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pic>
        <p:nvPicPr>
          <p:cNvPr descr="preencoded.png" id="17" name="Google Shape;17;p1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8" name="Google Shape;18;p16"/>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pic>
        <p:nvPicPr>
          <p:cNvPr descr="preencoded.png" id="20" name="Google Shape;20;p1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1" name="Google Shape;21;p17"/>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pic>
        <p:nvPicPr>
          <p:cNvPr descr="preencoded.png" id="23" name="Google Shape;23;p1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4" name="Google Shape;24;p18"/>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pic>
        <p:nvPicPr>
          <p:cNvPr descr="preencoded.png" id="26" name="Google Shape;26;p1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7" name="Google Shape;27;p19"/>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pic>
        <p:nvPicPr>
          <p:cNvPr descr="preencoded.png" id="29" name="Google Shape;29;p2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20"/>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pic>
        <p:nvPicPr>
          <p:cNvPr descr="preencoded.png" id="32" name="Google Shape;32;p2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3" name="Google Shape;33;p21"/>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pic>
        <p:nvPicPr>
          <p:cNvPr descr="preencoded.png" id="35" name="Google Shape;35;p2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6" name="Google Shape;36;p22"/>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pic>
        <p:nvPicPr>
          <p:cNvPr descr="preencoded.png" id="38" name="Google Shape;38;p2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9" name="Google Shape;39;p23"/>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0" name="Shape 40"/>
        <p:cNvGrpSpPr/>
        <p:nvPr/>
      </p:nvGrpSpPr>
      <p:grpSpPr>
        <a:xfrm>
          <a:off x="0" y="0"/>
          <a:ext cx="0" cy="0"/>
          <a:chOff x="0" y="0"/>
          <a:chExt cx="0" cy="0"/>
        </a:xfrm>
      </p:grpSpPr>
      <p:pic>
        <p:nvPicPr>
          <p:cNvPr descr="preencoded.png" id="41" name="Google Shape;41;p2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2" name="Google Shape;42;p24"/>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pic>
        <p:nvPicPr>
          <p:cNvPr descr="preencoded.png" id="44" name="Google Shape;44;p2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5" name="Google Shape;45;p25"/>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8.png"/><Relationship Id="rId4" Type="http://schemas.openxmlformats.org/officeDocument/2006/relationships/image" Target="../media/image2.png"/><Relationship Id="rId5" Type="http://schemas.openxmlformats.org/officeDocument/2006/relationships/hyperlink" Target="mailto:3009917700101@ingenieria.usac.edu.g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54" name="Google Shape;54;p1"/>
          <p:cNvPicPr preferRelativeResize="0"/>
          <p:nvPr/>
        </p:nvPicPr>
        <p:blipFill>
          <a:blip r:embed="rId4">
            <a:alphaModFix/>
          </a:blip>
          <a:stretch>
            <a:fillRect/>
          </a:stretch>
        </p:blipFill>
        <p:spPr>
          <a:xfrm>
            <a:off x="1931" y="0"/>
            <a:ext cx="9140139"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descr="preencoded.png" id="60" name="Google Shape;60;p2"/>
          <p:cNvPicPr preferRelativeResize="0"/>
          <p:nvPr/>
        </p:nvPicPr>
        <p:blipFill rotWithShape="1">
          <a:blip r:embed="rId3">
            <a:alphaModFix/>
          </a:blip>
          <a:srcRect b="0" l="0" r="0" t="0"/>
          <a:stretch/>
        </p:blipFill>
        <p:spPr>
          <a:xfrm>
            <a:off x="0" y="0"/>
            <a:ext cx="3429000" cy="5143500"/>
          </a:xfrm>
          <a:prstGeom prst="rect">
            <a:avLst/>
          </a:prstGeom>
          <a:noFill/>
          <a:ln>
            <a:noFill/>
          </a:ln>
        </p:spPr>
      </p:pic>
      <p:pic>
        <p:nvPicPr>
          <p:cNvPr descr="preencoded.png" id="61" name="Google Shape;61;p2"/>
          <p:cNvPicPr preferRelativeResize="0"/>
          <p:nvPr/>
        </p:nvPicPr>
        <p:blipFill rotWithShape="1">
          <a:blip r:embed="rId4">
            <a:alphaModFix/>
          </a:blip>
          <a:srcRect b="0" l="0" r="0" t="0"/>
          <a:stretch/>
        </p:blipFill>
        <p:spPr>
          <a:xfrm>
            <a:off x="3952577" y="1030486"/>
            <a:ext cx="2417266" cy="640631"/>
          </a:xfrm>
          <a:prstGeom prst="rect">
            <a:avLst/>
          </a:prstGeom>
          <a:noFill/>
          <a:ln>
            <a:noFill/>
          </a:ln>
        </p:spPr>
      </p:pic>
      <p:sp>
        <p:nvSpPr>
          <p:cNvPr id="62" name="Google Shape;62;p2"/>
          <p:cNvSpPr/>
          <p:nvPr/>
        </p:nvSpPr>
        <p:spPr>
          <a:xfrm>
            <a:off x="3952577" y="1867421"/>
            <a:ext cx="4667845" cy="7698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2E"/>
              </a:buClr>
              <a:buSzPts val="2400"/>
              <a:buFont typeface="Nunito SemiBold"/>
              <a:buNone/>
            </a:pPr>
            <a:r>
              <a:rPr b="1" i="0" lang="en-US" sz="2400" u="none" cap="none" strike="noStrike">
                <a:solidFill>
                  <a:srgbClr val="00002E"/>
                </a:solidFill>
                <a:latin typeface="Nunito SemiBold"/>
                <a:ea typeface="Nunito SemiBold"/>
                <a:cs typeface="Nunito SemiBold"/>
                <a:sym typeface="Nunito SemiBold"/>
              </a:rPr>
              <a:t>Teoría de Sistemas 2 – Semana de Diagnostico</a:t>
            </a:r>
            <a:endParaRPr b="0" i="0" sz="2400" u="none" cap="none" strike="noStrike"/>
          </a:p>
        </p:txBody>
      </p:sp>
      <p:sp>
        <p:nvSpPr>
          <p:cNvPr id="63" name="Google Shape;63;p2"/>
          <p:cNvSpPr/>
          <p:nvPr/>
        </p:nvSpPr>
        <p:spPr>
          <a:xfrm>
            <a:off x="3952577" y="2833613"/>
            <a:ext cx="4667845" cy="20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Auxiliar: Kevin Del Cid</a:t>
            </a:r>
            <a:endParaRPr b="0" i="0" sz="1000" u="none" cap="none" strike="noStrike"/>
          </a:p>
        </p:txBody>
      </p:sp>
      <p:sp>
        <p:nvSpPr>
          <p:cNvPr id="64" name="Google Shape;64;p2"/>
          <p:cNvSpPr/>
          <p:nvPr/>
        </p:nvSpPr>
        <p:spPr>
          <a:xfrm>
            <a:off x="3952577" y="3190280"/>
            <a:ext cx="4667845" cy="20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Teléfono: 3271-8175</a:t>
            </a:r>
            <a:endParaRPr b="0" i="0" sz="1000" u="none" cap="none" strike="noStrike"/>
          </a:p>
        </p:txBody>
      </p:sp>
      <p:sp>
        <p:nvSpPr>
          <p:cNvPr id="65" name="Google Shape;65;p2"/>
          <p:cNvSpPr/>
          <p:nvPr/>
        </p:nvSpPr>
        <p:spPr>
          <a:xfrm>
            <a:off x="3952577" y="3546946"/>
            <a:ext cx="4667845" cy="20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Correo: </a:t>
            </a:r>
            <a:r>
              <a:rPr b="0" i="0" lang="en-US" sz="1000" u="sng" cap="none" strike="noStrike">
                <a:solidFill>
                  <a:srgbClr val="2D4DF2"/>
                </a:solidFill>
                <a:latin typeface="PT Sans"/>
                <a:ea typeface="PT Sans"/>
                <a:cs typeface="PT Sans"/>
                <a:sym typeface="PT Sans"/>
                <a:hlinkClick r:id="rId5">
                  <a:extLst>
                    <a:ext uri="{A12FA001-AC4F-418D-AE19-62706E023703}">
                      <ahyp:hlinkClr val="tx"/>
                    </a:ext>
                  </a:extLst>
                </a:hlinkClick>
              </a:rPr>
              <a:t>3009917700101@ingenieria.usac.edu.gt</a:t>
            </a:r>
            <a:endParaRPr b="0" i="0" sz="1000" u="none" cap="none" strike="noStrike"/>
          </a:p>
        </p:txBody>
      </p:sp>
      <p:sp>
        <p:nvSpPr>
          <p:cNvPr id="66" name="Google Shape;66;p2"/>
          <p:cNvSpPr/>
          <p:nvPr/>
        </p:nvSpPr>
        <p:spPr>
          <a:xfrm>
            <a:off x="3952577" y="3903613"/>
            <a:ext cx="4667845" cy="20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SzPts val="1000"/>
              <a:buFont typeface="Arial"/>
              <a:buNone/>
            </a:pPr>
            <a:r>
              <a:t/>
            </a:r>
            <a:endParaRPr b="0" i="0" sz="10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p:nvPr/>
        </p:nvSpPr>
        <p:spPr>
          <a:xfrm>
            <a:off x="523577" y="521866"/>
            <a:ext cx="3537421"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2400"/>
              <a:buFont typeface="Nunito SemiBold"/>
              <a:buNone/>
            </a:pPr>
            <a:r>
              <a:rPr b="1" i="0" lang="en-US" sz="2400" u="none" cap="none" strike="noStrike">
                <a:solidFill>
                  <a:srgbClr val="00002E"/>
                </a:solidFill>
                <a:latin typeface="Nunito SemiBold"/>
                <a:ea typeface="Nunito SemiBold"/>
                <a:cs typeface="Nunito SemiBold"/>
                <a:sym typeface="Nunito SemiBold"/>
              </a:rPr>
              <a:t>Agenda</a:t>
            </a:r>
            <a:endParaRPr b="0" i="0" sz="2400" u="none" cap="none" strike="noStrike"/>
          </a:p>
        </p:txBody>
      </p:sp>
      <p:sp>
        <p:nvSpPr>
          <p:cNvPr id="73" name="Google Shape;73;p3"/>
          <p:cNvSpPr/>
          <p:nvPr/>
        </p:nvSpPr>
        <p:spPr>
          <a:xfrm>
            <a:off x="523577" y="1168598"/>
            <a:ext cx="8096845"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Bienvenidos al laboratorio de Teoría de Sistemas 2. Durante los próximos 100 minutos, exploraremos la estructura del curso, nos conoceremos como grupo de trabajo y estableceremos las bases para un semestre exitoso de aprendizaje colaborativo.</a:t>
            </a:r>
            <a:endParaRPr b="0" i="0" sz="1000" u="none" cap="none" strike="noStrike"/>
          </a:p>
        </p:txBody>
      </p:sp>
      <p:sp>
        <p:nvSpPr>
          <p:cNvPr id="74" name="Google Shape;74;p3"/>
          <p:cNvSpPr/>
          <p:nvPr/>
        </p:nvSpPr>
        <p:spPr>
          <a:xfrm>
            <a:off x="523577" y="1734666"/>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01</a:t>
            </a:r>
            <a:endParaRPr b="0" i="0" sz="1000" u="none" cap="none" strike="noStrike"/>
          </a:p>
        </p:txBody>
      </p:sp>
      <p:sp>
        <p:nvSpPr>
          <p:cNvPr id="75" name="Google Shape;75;p3"/>
          <p:cNvSpPr/>
          <p:nvPr/>
        </p:nvSpPr>
        <p:spPr>
          <a:xfrm>
            <a:off x="523577" y="1942802"/>
            <a:ext cx="2611636" cy="14288"/>
          </a:xfrm>
          <a:prstGeom prst="rect">
            <a:avLst/>
          </a:prstGeom>
          <a:solidFill>
            <a:srgbClr val="2D4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523577" y="2036787"/>
            <a:ext cx="2018407"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1" i="0" lang="en-US" sz="1200" u="none" cap="none" strike="noStrike">
                <a:solidFill>
                  <a:srgbClr val="00002E"/>
                </a:solidFill>
                <a:latin typeface="Nunito SemiBold"/>
                <a:ea typeface="Nunito SemiBold"/>
                <a:cs typeface="Nunito SemiBold"/>
                <a:sym typeface="Nunito SemiBold"/>
              </a:rPr>
              <a:t>Presentación Personal</a:t>
            </a:r>
            <a:endParaRPr b="0" i="0" sz="1200" u="none" cap="none" strike="noStrike"/>
          </a:p>
        </p:txBody>
      </p:sp>
      <p:sp>
        <p:nvSpPr>
          <p:cNvPr id="77" name="Google Shape;77;p3"/>
          <p:cNvSpPr/>
          <p:nvPr/>
        </p:nvSpPr>
        <p:spPr>
          <a:xfrm>
            <a:off x="523577" y="2307803"/>
            <a:ext cx="2611636"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Introducción del auxiliar, experiencia académica y objetivos del laboratorio</a:t>
            </a:r>
            <a:endParaRPr b="0" i="0" sz="1000" u="none" cap="none" strike="noStrike"/>
          </a:p>
        </p:txBody>
      </p:sp>
      <p:sp>
        <p:nvSpPr>
          <p:cNvPr id="78" name="Google Shape;78;p3"/>
          <p:cNvSpPr/>
          <p:nvPr/>
        </p:nvSpPr>
        <p:spPr>
          <a:xfrm>
            <a:off x="523577" y="2805113"/>
            <a:ext cx="3068836"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10 minutos</a:t>
            </a:r>
            <a:endParaRPr b="0" i="0" sz="1000" u="none" cap="none" strike="noStrike"/>
          </a:p>
        </p:txBody>
      </p:sp>
      <p:sp>
        <p:nvSpPr>
          <p:cNvPr id="79" name="Google Shape;79;p3"/>
          <p:cNvSpPr/>
          <p:nvPr/>
        </p:nvSpPr>
        <p:spPr>
          <a:xfrm>
            <a:off x="3266108" y="1734666"/>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02</a:t>
            </a:r>
            <a:endParaRPr b="0" i="0" sz="1000" u="none" cap="none" strike="noStrike"/>
          </a:p>
        </p:txBody>
      </p:sp>
      <p:sp>
        <p:nvSpPr>
          <p:cNvPr id="80" name="Google Shape;80;p3"/>
          <p:cNvSpPr/>
          <p:nvPr/>
        </p:nvSpPr>
        <p:spPr>
          <a:xfrm>
            <a:off x="3266108" y="1942802"/>
            <a:ext cx="2611710" cy="14288"/>
          </a:xfrm>
          <a:prstGeom prst="rect">
            <a:avLst/>
          </a:prstGeom>
          <a:solidFill>
            <a:srgbClr val="018C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3266108" y="2036787"/>
            <a:ext cx="2437954"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1" i="0" lang="en-US" sz="1200" u="none" cap="none" strike="noStrike">
                <a:solidFill>
                  <a:srgbClr val="00002E"/>
                </a:solidFill>
                <a:latin typeface="Nunito SemiBold"/>
                <a:ea typeface="Nunito SemiBold"/>
                <a:cs typeface="Nunito SemiBold"/>
                <a:sym typeface="Nunito SemiBold"/>
              </a:rPr>
              <a:t>Presentación de Estudiantes</a:t>
            </a:r>
            <a:endParaRPr b="0" i="0" sz="1200" u="none" cap="none" strike="noStrike"/>
          </a:p>
        </p:txBody>
      </p:sp>
      <p:sp>
        <p:nvSpPr>
          <p:cNvPr id="82" name="Google Shape;82;p3"/>
          <p:cNvSpPr/>
          <p:nvPr/>
        </p:nvSpPr>
        <p:spPr>
          <a:xfrm>
            <a:off x="3266108" y="2307803"/>
            <a:ext cx="2611710"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Dinámica interactiva para conocer a cada integrante del grupo</a:t>
            </a:r>
            <a:endParaRPr b="0" i="0" sz="1000" u="none" cap="none" strike="noStrike"/>
          </a:p>
        </p:txBody>
      </p:sp>
      <p:sp>
        <p:nvSpPr>
          <p:cNvPr id="83" name="Google Shape;83;p3"/>
          <p:cNvSpPr/>
          <p:nvPr/>
        </p:nvSpPr>
        <p:spPr>
          <a:xfrm>
            <a:off x="3266108" y="2805113"/>
            <a:ext cx="3068910"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25 minutos</a:t>
            </a:r>
            <a:endParaRPr b="0" i="0" sz="1000" u="none" cap="none" strike="noStrike"/>
          </a:p>
        </p:txBody>
      </p:sp>
      <p:sp>
        <p:nvSpPr>
          <p:cNvPr id="84" name="Google Shape;84;p3"/>
          <p:cNvSpPr/>
          <p:nvPr/>
        </p:nvSpPr>
        <p:spPr>
          <a:xfrm>
            <a:off x="6008712" y="1734666"/>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03</a:t>
            </a:r>
            <a:endParaRPr b="0" i="0" sz="1000" u="none" cap="none" strike="noStrike"/>
          </a:p>
        </p:txBody>
      </p:sp>
      <p:sp>
        <p:nvSpPr>
          <p:cNvPr id="85" name="Google Shape;85;p3"/>
          <p:cNvSpPr/>
          <p:nvPr/>
        </p:nvSpPr>
        <p:spPr>
          <a:xfrm>
            <a:off x="6008712" y="1942802"/>
            <a:ext cx="2611710" cy="14288"/>
          </a:xfrm>
          <a:prstGeom prst="rect">
            <a:avLst/>
          </a:prstGeom>
          <a:solidFill>
            <a:srgbClr val="DA33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6008712" y="2036787"/>
            <a:ext cx="2616250"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1" i="0" lang="en-US" sz="1200" u="none" cap="none" strike="noStrike">
                <a:solidFill>
                  <a:srgbClr val="00002E"/>
                </a:solidFill>
                <a:latin typeface="Nunito SemiBold"/>
                <a:ea typeface="Nunito SemiBold"/>
                <a:cs typeface="Nunito SemiBold"/>
                <a:sym typeface="Nunito SemiBold"/>
              </a:rPr>
              <a:t>Diagnóstico del Curso Anterior</a:t>
            </a:r>
            <a:endParaRPr b="0" i="0" sz="1200" u="none" cap="none" strike="noStrike"/>
          </a:p>
        </p:txBody>
      </p:sp>
      <p:sp>
        <p:nvSpPr>
          <p:cNvPr id="87" name="Google Shape;87;p3"/>
          <p:cNvSpPr/>
          <p:nvPr/>
        </p:nvSpPr>
        <p:spPr>
          <a:xfrm>
            <a:off x="6008712" y="2307803"/>
            <a:ext cx="2611710"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Evaluación de conocimientos previos y competencias adquiridas</a:t>
            </a:r>
            <a:endParaRPr b="0" i="0" sz="1000" u="none" cap="none" strike="noStrike"/>
          </a:p>
        </p:txBody>
      </p:sp>
      <p:sp>
        <p:nvSpPr>
          <p:cNvPr id="88" name="Google Shape;88;p3"/>
          <p:cNvSpPr/>
          <p:nvPr/>
        </p:nvSpPr>
        <p:spPr>
          <a:xfrm>
            <a:off x="6008712" y="2805113"/>
            <a:ext cx="3068910"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15 minutos</a:t>
            </a:r>
            <a:endParaRPr b="0" i="0" sz="1000" u="none" cap="none" strike="noStrike"/>
          </a:p>
        </p:txBody>
      </p:sp>
      <p:sp>
        <p:nvSpPr>
          <p:cNvPr id="89" name="Google Shape;89;p3"/>
          <p:cNvSpPr/>
          <p:nvPr/>
        </p:nvSpPr>
        <p:spPr>
          <a:xfrm>
            <a:off x="523577" y="3243560"/>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04</a:t>
            </a:r>
            <a:endParaRPr b="0" i="0" sz="1000" u="none" cap="none" strike="noStrike"/>
          </a:p>
        </p:txBody>
      </p:sp>
      <p:sp>
        <p:nvSpPr>
          <p:cNvPr id="90" name="Google Shape;90;p3"/>
          <p:cNvSpPr/>
          <p:nvPr/>
        </p:nvSpPr>
        <p:spPr>
          <a:xfrm>
            <a:off x="523577" y="3451696"/>
            <a:ext cx="3982938" cy="14288"/>
          </a:xfrm>
          <a:prstGeom prst="rect">
            <a:avLst/>
          </a:prstGeom>
          <a:solidFill>
            <a:srgbClr val="2D4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523577" y="3545681"/>
            <a:ext cx="2352824"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1" i="0" lang="en-US" sz="1200" u="none" cap="none" strike="noStrike">
                <a:solidFill>
                  <a:srgbClr val="00002E"/>
                </a:solidFill>
                <a:latin typeface="Nunito SemiBold"/>
                <a:ea typeface="Nunito SemiBold"/>
                <a:cs typeface="Nunito SemiBold"/>
                <a:sym typeface="Nunito SemiBold"/>
              </a:rPr>
              <a:t>Presentación del Programa</a:t>
            </a:r>
            <a:endParaRPr b="0" i="0" sz="1200" u="none" cap="none" strike="noStrike"/>
          </a:p>
        </p:txBody>
      </p:sp>
      <p:sp>
        <p:nvSpPr>
          <p:cNvPr id="92" name="Google Shape;92;p3"/>
          <p:cNvSpPr/>
          <p:nvPr/>
        </p:nvSpPr>
        <p:spPr>
          <a:xfrm>
            <a:off x="523577" y="3816697"/>
            <a:ext cx="4440138"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Metodología, competencias, temas y recursos del curso</a:t>
            </a:r>
            <a:endParaRPr b="0" i="0" sz="1000" u="none" cap="none" strike="noStrike"/>
          </a:p>
        </p:txBody>
      </p:sp>
      <p:sp>
        <p:nvSpPr>
          <p:cNvPr id="93" name="Google Shape;93;p3"/>
          <p:cNvSpPr/>
          <p:nvPr/>
        </p:nvSpPr>
        <p:spPr>
          <a:xfrm>
            <a:off x="523577" y="4104605"/>
            <a:ext cx="4440138"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20 minutos</a:t>
            </a:r>
            <a:endParaRPr b="0" i="0" sz="1000" u="none" cap="none" strike="noStrike"/>
          </a:p>
        </p:txBody>
      </p:sp>
      <p:sp>
        <p:nvSpPr>
          <p:cNvPr id="94" name="Google Shape;94;p3"/>
          <p:cNvSpPr/>
          <p:nvPr/>
        </p:nvSpPr>
        <p:spPr>
          <a:xfrm>
            <a:off x="4637410" y="3243560"/>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05</a:t>
            </a:r>
            <a:endParaRPr b="0" i="0" sz="1000" u="none" cap="none" strike="noStrike"/>
          </a:p>
        </p:txBody>
      </p:sp>
      <p:sp>
        <p:nvSpPr>
          <p:cNvPr id="95" name="Google Shape;95;p3"/>
          <p:cNvSpPr/>
          <p:nvPr/>
        </p:nvSpPr>
        <p:spPr>
          <a:xfrm>
            <a:off x="4637410" y="3451696"/>
            <a:ext cx="3983013" cy="14288"/>
          </a:xfrm>
          <a:prstGeom prst="rect">
            <a:avLst/>
          </a:prstGeom>
          <a:solidFill>
            <a:srgbClr val="018C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4637410" y="3545681"/>
            <a:ext cx="2887414"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1" i="0" lang="en-US" sz="1200" u="none" cap="none" strike="noStrike">
                <a:solidFill>
                  <a:srgbClr val="00002E"/>
                </a:solidFill>
                <a:latin typeface="Nunito SemiBold"/>
                <a:ea typeface="Nunito SemiBold"/>
                <a:cs typeface="Nunito SemiBold"/>
                <a:sym typeface="Nunito SemiBold"/>
              </a:rPr>
              <a:t>Diagnóstico del Nuevo Laboratorio</a:t>
            </a:r>
            <a:endParaRPr b="0" i="0" sz="1200" u="none" cap="none" strike="noStrike"/>
          </a:p>
        </p:txBody>
      </p:sp>
      <p:sp>
        <p:nvSpPr>
          <p:cNvPr id="97" name="Google Shape;97;p3"/>
          <p:cNvSpPr/>
          <p:nvPr/>
        </p:nvSpPr>
        <p:spPr>
          <a:xfrm>
            <a:off x="4637410" y="3816697"/>
            <a:ext cx="3983013"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Evaluación inicial del nivel del grupo mediante herramientas interactivas</a:t>
            </a:r>
            <a:endParaRPr b="0" i="0" sz="1000" u="none" cap="none" strike="noStrike"/>
          </a:p>
        </p:txBody>
      </p:sp>
      <p:sp>
        <p:nvSpPr>
          <p:cNvPr id="98" name="Google Shape;98;p3"/>
          <p:cNvSpPr/>
          <p:nvPr/>
        </p:nvSpPr>
        <p:spPr>
          <a:xfrm>
            <a:off x="4637410" y="4314006"/>
            <a:ext cx="4440213"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15 minutos</a:t>
            </a:r>
            <a:endParaRPr b="0" i="0" sz="10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p:nvPr/>
        </p:nvSpPr>
        <p:spPr>
          <a:xfrm>
            <a:off x="523577" y="610270"/>
            <a:ext cx="3613770"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2400"/>
              <a:buFont typeface="Nunito SemiBold"/>
              <a:buNone/>
            </a:pPr>
            <a:r>
              <a:rPr b="1" i="0" lang="en-US" sz="2400" u="none" cap="none" strike="noStrike">
                <a:solidFill>
                  <a:srgbClr val="00002E"/>
                </a:solidFill>
                <a:latin typeface="Nunito SemiBold"/>
                <a:ea typeface="Nunito SemiBold"/>
                <a:cs typeface="Nunito SemiBold"/>
                <a:sym typeface="Nunito SemiBold"/>
              </a:rPr>
              <a:t>Presentación del Tutor</a:t>
            </a:r>
            <a:endParaRPr b="0" i="0" sz="2400" u="none" cap="none" strike="noStrike"/>
          </a:p>
        </p:txBody>
      </p:sp>
      <p:pic>
        <p:nvPicPr>
          <p:cNvPr descr="preencoded.png" id="105" name="Google Shape;105;p4"/>
          <p:cNvPicPr preferRelativeResize="0"/>
          <p:nvPr/>
        </p:nvPicPr>
        <p:blipFill rotWithShape="1">
          <a:blip r:embed="rId3">
            <a:alphaModFix/>
          </a:blip>
          <a:srcRect b="0" l="0" r="0" t="0"/>
          <a:stretch/>
        </p:blipFill>
        <p:spPr>
          <a:xfrm>
            <a:off x="523577" y="1338783"/>
            <a:ext cx="3047107" cy="3047107"/>
          </a:xfrm>
          <a:prstGeom prst="rect">
            <a:avLst/>
          </a:prstGeom>
          <a:noFill/>
          <a:ln>
            <a:noFill/>
          </a:ln>
        </p:spPr>
      </p:pic>
      <p:sp>
        <p:nvSpPr>
          <p:cNvPr id="106" name="Google Shape;106;p4"/>
          <p:cNvSpPr/>
          <p:nvPr/>
        </p:nvSpPr>
        <p:spPr>
          <a:xfrm>
            <a:off x="3894832" y="1322412"/>
            <a:ext cx="2305348" cy="2310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450"/>
              <a:buFont typeface="Nunito SemiBold"/>
              <a:buNone/>
            </a:pPr>
            <a:r>
              <a:rPr b="1" i="0" lang="en-US" sz="1450" u="none" cap="none" strike="noStrike">
                <a:solidFill>
                  <a:srgbClr val="00002E"/>
                </a:solidFill>
                <a:latin typeface="Nunito SemiBold"/>
                <a:ea typeface="Nunito SemiBold"/>
                <a:cs typeface="Nunito SemiBold"/>
                <a:sym typeface="Nunito SemiBold"/>
              </a:rPr>
              <a:t>Kevin Del Cid</a:t>
            </a:r>
            <a:endParaRPr b="0" i="0" sz="1450" u="none" cap="none" strike="noStrike"/>
          </a:p>
        </p:txBody>
      </p:sp>
      <p:sp>
        <p:nvSpPr>
          <p:cNvPr id="107" name="Google Shape;107;p4"/>
          <p:cNvSpPr/>
          <p:nvPr/>
        </p:nvSpPr>
        <p:spPr>
          <a:xfrm>
            <a:off x="3894832" y="1684362"/>
            <a:ext cx="4730353" cy="628204"/>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Como auxiliar de laboratorio, mi objetivo es facilitar su aprendizaje práctico en Teoría de Sistemas 2, conectando los conceptos teóricos con aplicaciones reales en el desarrollo de sistemas de información.</a:t>
            </a:r>
            <a:endParaRPr b="0" i="0" sz="1000" u="none" cap="none" strike="noStrike"/>
          </a:p>
        </p:txBody>
      </p:sp>
      <p:sp>
        <p:nvSpPr>
          <p:cNvPr id="108" name="Google Shape;108;p4"/>
          <p:cNvSpPr/>
          <p:nvPr/>
        </p:nvSpPr>
        <p:spPr>
          <a:xfrm>
            <a:off x="3894832" y="2443460"/>
            <a:ext cx="2067520"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1" i="0" lang="en-US" sz="1200" u="none" cap="none" strike="noStrike">
                <a:solidFill>
                  <a:srgbClr val="00002E"/>
                </a:solidFill>
                <a:latin typeface="Nunito SemiBold"/>
                <a:ea typeface="Nunito SemiBold"/>
                <a:cs typeface="Nunito SemiBold"/>
                <a:sym typeface="Nunito SemiBold"/>
              </a:rPr>
              <a:t>Experiencia Académica</a:t>
            </a:r>
            <a:endParaRPr b="0" i="0" sz="1200" u="none" cap="none" strike="noStrike"/>
          </a:p>
        </p:txBody>
      </p:sp>
      <p:sp>
        <p:nvSpPr>
          <p:cNvPr id="109" name="Google Shape;109;p4"/>
          <p:cNvSpPr/>
          <p:nvPr/>
        </p:nvSpPr>
        <p:spPr>
          <a:xfrm>
            <a:off x="3894832" y="2766864"/>
            <a:ext cx="4730353" cy="464567"/>
          </a:xfrm>
          <a:prstGeom prst="rect">
            <a:avLst/>
          </a:prstGeom>
          <a:noFill/>
          <a:ln>
            <a:noFill/>
          </a:ln>
        </p:spPr>
        <p:txBody>
          <a:bodyPr anchorCtr="0" anchor="t" bIns="0" lIns="0" spcFirstLastPara="1" rIns="0" wrap="square" tIns="0">
            <a:normAutofit/>
          </a:bodyPr>
          <a:lstStyle/>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Estudiante de </a:t>
            </a:r>
            <a:r>
              <a:rPr lang="en-US" sz="1000">
                <a:solidFill>
                  <a:srgbClr val="00002E"/>
                </a:solidFill>
                <a:latin typeface="PT Sans"/>
                <a:ea typeface="PT Sans"/>
                <a:cs typeface="PT Sans"/>
                <a:sym typeface="PT Sans"/>
              </a:rPr>
              <a:t>Último</a:t>
            </a:r>
            <a:r>
              <a:rPr b="0" i="0" lang="en-US" sz="1000" u="none" cap="none" strike="noStrike">
                <a:solidFill>
                  <a:srgbClr val="00002E"/>
                </a:solidFill>
                <a:latin typeface="PT Sans"/>
                <a:ea typeface="PT Sans"/>
                <a:cs typeface="PT Sans"/>
                <a:sym typeface="PT Sans"/>
              </a:rPr>
              <a:t> año de Ingeniería en Ciencias y Sistemas</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Experiencia en Inicio y Desarrollo de proyectos (Laboralmente Hablando)</a:t>
            </a:r>
            <a:endParaRPr b="0" i="0" sz="1000" u="none" cap="none" strike="noStrike"/>
          </a:p>
        </p:txBody>
      </p:sp>
      <p:sp>
        <p:nvSpPr>
          <p:cNvPr id="110" name="Google Shape;110;p4"/>
          <p:cNvSpPr/>
          <p:nvPr/>
        </p:nvSpPr>
        <p:spPr>
          <a:xfrm>
            <a:off x="3894832" y="3362325"/>
            <a:ext cx="1997273"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1" i="0" lang="en-US" sz="1200" u="none" cap="none" strike="noStrike">
                <a:solidFill>
                  <a:srgbClr val="00002E"/>
                </a:solidFill>
                <a:latin typeface="Nunito SemiBold"/>
                <a:ea typeface="Nunito SemiBold"/>
                <a:cs typeface="Nunito SemiBold"/>
                <a:sym typeface="Nunito SemiBold"/>
              </a:rPr>
              <a:t>Rol en el Laboratorio</a:t>
            </a:r>
            <a:endParaRPr b="0" i="0" sz="1200" u="none" cap="none" strike="noStrike"/>
          </a:p>
        </p:txBody>
      </p:sp>
      <p:sp>
        <p:nvSpPr>
          <p:cNvPr id="111" name="Google Shape;111;p4"/>
          <p:cNvSpPr/>
          <p:nvPr/>
        </p:nvSpPr>
        <p:spPr>
          <a:xfrm>
            <a:off x="3894832" y="3685729"/>
            <a:ext cx="4730353" cy="628204"/>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Guiar el desarrollo de proyectos prácticos, resolver dudas técnicas, evaluar el progreso continuo y fomentar el pensamiento sistémico aplicado a problemas reales de ingeniería.</a:t>
            </a:r>
            <a:endParaRPr b="0" i="0" sz="10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p:nvPr/>
        </p:nvSpPr>
        <p:spPr>
          <a:xfrm>
            <a:off x="523577" y="845493"/>
            <a:ext cx="5585445"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2400"/>
              <a:buFont typeface="Nunito SemiBold"/>
              <a:buNone/>
            </a:pPr>
            <a:r>
              <a:rPr b="1" i="0" lang="en-US" sz="2400" u="none" cap="none" strike="noStrike">
                <a:solidFill>
                  <a:srgbClr val="00002E"/>
                </a:solidFill>
                <a:latin typeface="Nunito SemiBold"/>
                <a:ea typeface="Nunito SemiBold"/>
                <a:cs typeface="Nunito SemiBold"/>
                <a:sym typeface="Nunito SemiBold"/>
              </a:rPr>
              <a:t>Evaluación de conocimientos Previos</a:t>
            </a:r>
            <a:endParaRPr b="0" i="0" sz="2400" u="none" cap="none" strike="noStrike"/>
          </a:p>
        </p:txBody>
      </p:sp>
      <p:sp>
        <p:nvSpPr>
          <p:cNvPr id="118" name="Google Shape;118;p5"/>
          <p:cNvSpPr/>
          <p:nvPr/>
        </p:nvSpPr>
        <p:spPr>
          <a:xfrm>
            <a:off x="523577" y="1492225"/>
            <a:ext cx="8096845"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Para diseñar un plan de aprendizaje efectivo, necesitamos comprender el nivel de conocimientos previos del grupo. Este diagnóstico nos permitirá identificar fortalezas, áreas de oportunidad y ajustar el contenido del laboratorio según las necesidades reales.</a:t>
            </a:r>
            <a:endParaRPr b="0" i="0" sz="1000" u="none" cap="none" strike="noStrike"/>
          </a:p>
        </p:txBody>
      </p:sp>
      <p:sp>
        <p:nvSpPr>
          <p:cNvPr id="119" name="Google Shape;119;p5"/>
          <p:cNvSpPr/>
          <p:nvPr/>
        </p:nvSpPr>
        <p:spPr>
          <a:xfrm>
            <a:off x="523577" y="2058293"/>
            <a:ext cx="3982938" cy="1536278"/>
          </a:xfrm>
          <a:prstGeom prst="roundRect">
            <a:avLst>
              <a:gd fmla="val 12782" name="adj"/>
            </a:avLst>
          </a:prstGeom>
          <a:solidFill>
            <a:srgbClr val="F3F3FF"/>
          </a:solidFill>
          <a:ln cap="flat" cmpd="sng" w="14275">
            <a:solidFill>
              <a:srgbClr val="2D4D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668759" y="2203475"/>
            <a:ext cx="2254151"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1" i="0" lang="en-US" sz="1200" u="none" cap="none" strike="noStrike">
                <a:solidFill>
                  <a:srgbClr val="00002E"/>
                </a:solidFill>
                <a:latin typeface="Nunito SemiBold"/>
                <a:ea typeface="Nunito SemiBold"/>
                <a:cs typeface="Nunito SemiBold"/>
                <a:sym typeface="Nunito SemiBold"/>
              </a:rPr>
              <a:t>Objetivos del Diagnóstico</a:t>
            </a:r>
            <a:endParaRPr b="0" i="0" sz="1200" u="none" cap="none" strike="noStrike"/>
          </a:p>
        </p:txBody>
      </p:sp>
      <p:sp>
        <p:nvSpPr>
          <p:cNvPr id="121" name="Google Shape;121;p5"/>
          <p:cNvSpPr/>
          <p:nvPr/>
        </p:nvSpPr>
        <p:spPr>
          <a:xfrm>
            <a:off x="668759" y="2474491"/>
            <a:ext cx="3692575" cy="974899"/>
          </a:xfrm>
          <a:prstGeom prst="rect">
            <a:avLst/>
          </a:prstGeom>
          <a:noFill/>
          <a:ln>
            <a:noFill/>
          </a:ln>
        </p:spPr>
        <p:txBody>
          <a:bodyPr anchorCtr="0" anchor="t" bIns="0" lIns="0" spcFirstLastPara="1" rIns="0" wrap="square" tIns="0">
            <a:normAutofit/>
          </a:bodyPr>
          <a:lstStyle/>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Identificar competencias adquiridas en Teoría de Sistemas 1</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Detectar conceptos que requieren refuerzo</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Establecer una línea base de conocimientos</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Personalizar ejemplos.</a:t>
            </a:r>
            <a:endParaRPr b="0" i="0" sz="1000" u="none" cap="none" strike="noStrike"/>
          </a:p>
        </p:txBody>
      </p:sp>
      <p:sp>
        <p:nvSpPr>
          <p:cNvPr id="122" name="Google Shape;122;p5"/>
          <p:cNvSpPr/>
          <p:nvPr/>
        </p:nvSpPr>
        <p:spPr>
          <a:xfrm>
            <a:off x="4637410" y="2058293"/>
            <a:ext cx="3983013" cy="1536278"/>
          </a:xfrm>
          <a:prstGeom prst="roundRect">
            <a:avLst>
              <a:gd fmla="val 12782" name="adj"/>
            </a:avLst>
          </a:prstGeom>
          <a:solidFill>
            <a:srgbClr val="F3F3FF"/>
          </a:solidFill>
          <a:ln cap="flat" cmpd="sng" w="14275">
            <a:solidFill>
              <a:srgbClr val="018C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4782592" y="2203475"/>
            <a:ext cx="2577480"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1" i="0" lang="en-US" sz="1200" u="none" cap="none" strike="noStrike">
                <a:solidFill>
                  <a:srgbClr val="00002E"/>
                </a:solidFill>
                <a:latin typeface="Nunito SemiBold"/>
                <a:ea typeface="Nunito SemiBold"/>
                <a:cs typeface="Nunito SemiBold"/>
                <a:sym typeface="Nunito SemiBold"/>
              </a:rPr>
              <a:t>Beneficios para el Aprendizaje</a:t>
            </a:r>
            <a:endParaRPr b="0" i="0" sz="1200" u="none" cap="none" strike="noStrike"/>
          </a:p>
        </p:txBody>
      </p:sp>
      <p:sp>
        <p:nvSpPr>
          <p:cNvPr id="124" name="Google Shape;124;p5"/>
          <p:cNvSpPr/>
          <p:nvPr/>
        </p:nvSpPr>
        <p:spPr>
          <a:xfrm>
            <a:off x="4782592" y="2474491"/>
            <a:ext cx="3692649" cy="974899"/>
          </a:xfrm>
          <a:prstGeom prst="rect">
            <a:avLst/>
          </a:prstGeom>
          <a:noFill/>
          <a:ln>
            <a:noFill/>
          </a:ln>
        </p:spPr>
        <p:txBody>
          <a:bodyPr anchorCtr="0" anchor="t" bIns="0" lIns="0" spcFirstLastPara="1" rIns="0" wrap="square" tIns="0">
            <a:normAutofit/>
          </a:bodyPr>
          <a:lstStyle/>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Aprendizaje adaptativo basado en resultados reales</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Identificación temprana de dificultades</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Mayor engagement del estudiante</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Retroalimentación inmediata y precisa</a:t>
            </a:r>
            <a:endParaRPr b="0" i="0" sz="1000" u="none" cap="none" strike="noStrike"/>
          </a:p>
        </p:txBody>
      </p:sp>
      <p:sp>
        <p:nvSpPr>
          <p:cNvPr id="125" name="Google Shape;125;p5"/>
          <p:cNvSpPr/>
          <p:nvPr/>
        </p:nvSpPr>
        <p:spPr>
          <a:xfrm>
            <a:off x="523577" y="3741837"/>
            <a:ext cx="8096845" cy="556171"/>
          </a:xfrm>
          <a:prstGeom prst="roundRect">
            <a:avLst>
              <a:gd fmla="val 35307" name="adj"/>
            </a:avLst>
          </a:prstGeom>
          <a:solidFill>
            <a:srgbClr val="B7C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6" name="Google Shape;126;p5"/>
          <p:cNvPicPr preferRelativeResize="0"/>
          <p:nvPr/>
        </p:nvPicPr>
        <p:blipFill rotWithShape="1">
          <a:blip r:embed="rId3">
            <a:alphaModFix/>
          </a:blip>
          <a:srcRect b="0" l="0" r="0" t="0"/>
          <a:stretch/>
        </p:blipFill>
        <p:spPr>
          <a:xfrm>
            <a:off x="654472" y="3938439"/>
            <a:ext cx="163637" cy="130894"/>
          </a:xfrm>
          <a:prstGeom prst="rect">
            <a:avLst/>
          </a:prstGeom>
          <a:noFill/>
          <a:ln>
            <a:noFill/>
          </a:ln>
        </p:spPr>
      </p:pic>
      <p:sp>
        <p:nvSpPr>
          <p:cNvPr id="127" name="Google Shape;127;p5"/>
          <p:cNvSpPr/>
          <p:nvPr/>
        </p:nvSpPr>
        <p:spPr>
          <a:xfrm>
            <a:off x="949003" y="3905399"/>
            <a:ext cx="7997726"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1000"/>
              <a:buFont typeface="PT Sans"/>
              <a:buNone/>
            </a:pPr>
            <a:r>
              <a:rPr b="1" i="0" lang="en-US" sz="1000" u="none" cap="none" strike="noStrike">
                <a:solidFill>
                  <a:srgbClr val="000000"/>
                </a:solidFill>
                <a:latin typeface="PT Sans"/>
                <a:ea typeface="PT Sans"/>
                <a:cs typeface="PT Sans"/>
                <a:sym typeface="PT Sans"/>
              </a:rPr>
              <a:t>Espacio para enlace del cuestionario (KAHOOT):</a:t>
            </a:r>
            <a:r>
              <a:rPr b="0" i="0" lang="en-US" sz="1000" u="none" cap="none" strike="noStrike">
                <a:solidFill>
                  <a:srgbClr val="000000"/>
                </a:solidFill>
                <a:latin typeface="PT Sans"/>
                <a:ea typeface="PT Sans"/>
                <a:cs typeface="PT Sans"/>
                <a:sym typeface="PT Sans"/>
              </a:rPr>
              <a:t> </a:t>
            </a:r>
            <a:endParaRPr b="0" i="0" sz="10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p:nvPr/>
        </p:nvSpPr>
        <p:spPr>
          <a:xfrm>
            <a:off x="852544" y="278076"/>
            <a:ext cx="6187800" cy="283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2E"/>
              </a:buClr>
              <a:buSzPts val="1850"/>
              <a:buFont typeface="Nunito SemiBold"/>
              <a:buNone/>
            </a:pPr>
            <a:r>
              <a:rPr b="1" i="0" lang="en-US" sz="1850" u="none" cap="none" strike="noStrike">
                <a:solidFill>
                  <a:srgbClr val="00002E"/>
                </a:solidFill>
                <a:latin typeface="Nunito SemiBold"/>
                <a:ea typeface="Nunito SemiBold"/>
                <a:cs typeface="Nunito SemiBold"/>
                <a:sym typeface="Nunito SemiBold"/>
              </a:rPr>
              <a:t>Dinámica: Presentación de Estudiantes</a:t>
            </a:r>
            <a:endParaRPr b="0" i="0" sz="1850" u="none" cap="none" strike="noStrike"/>
          </a:p>
        </p:txBody>
      </p:sp>
      <p:sp>
        <p:nvSpPr>
          <p:cNvPr id="134" name="Google Shape;134;p6"/>
          <p:cNvSpPr/>
          <p:nvPr/>
        </p:nvSpPr>
        <p:spPr>
          <a:xfrm>
            <a:off x="852562" y="726281"/>
            <a:ext cx="7438802" cy="283071"/>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00002E"/>
              </a:buClr>
              <a:buSzPts val="750"/>
              <a:buFont typeface="PT Sans"/>
              <a:buNone/>
            </a:pPr>
            <a:r>
              <a:rPr b="0" i="0" lang="en-US" sz="750" u="none" cap="none" strike="noStrike">
                <a:solidFill>
                  <a:srgbClr val="00002E"/>
                </a:solidFill>
                <a:latin typeface="PT Sans"/>
                <a:ea typeface="PT Sans"/>
                <a:cs typeface="PT Sans"/>
                <a:sym typeface="PT Sans"/>
              </a:rPr>
              <a:t>Para crear un ambiente de aprendizaje colaborativo, es fundamental que nos conozcamos. Utilizaremos una dinámica interactiva que nos permitirá descubrir las experiencias, expectativas y habilidades de cada integrante del grupo.</a:t>
            </a:r>
            <a:endParaRPr b="0" i="0" sz="750" u="none" cap="none" strike="noStrike"/>
          </a:p>
        </p:txBody>
      </p:sp>
      <p:pic>
        <p:nvPicPr>
          <p:cNvPr descr="preencoded.png" id="135" name="Google Shape;135;p6"/>
          <p:cNvPicPr preferRelativeResize="0"/>
          <p:nvPr/>
        </p:nvPicPr>
        <p:blipFill rotWithShape="1">
          <a:blip r:embed="rId3">
            <a:alphaModFix/>
          </a:blip>
          <a:srcRect b="0" l="0" r="0" t="0"/>
          <a:stretch/>
        </p:blipFill>
        <p:spPr>
          <a:xfrm>
            <a:off x="852562" y="1181993"/>
            <a:ext cx="3597101" cy="3597101"/>
          </a:xfrm>
          <a:prstGeom prst="rect">
            <a:avLst/>
          </a:prstGeom>
          <a:noFill/>
          <a:ln>
            <a:noFill/>
          </a:ln>
        </p:spPr>
      </p:pic>
      <p:sp>
        <p:nvSpPr>
          <p:cNvPr id="136" name="Google Shape;136;p6"/>
          <p:cNvSpPr/>
          <p:nvPr/>
        </p:nvSpPr>
        <p:spPr>
          <a:xfrm>
            <a:off x="4698950" y="1172394"/>
            <a:ext cx="1967508" cy="176882"/>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00002E"/>
              </a:buClr>
              <a:buSzPts val="1100"/>
              <a:buFont typeface="Nunito SemiBold"/>
              <a:buNone/>
            </a:pPr>
            <a:r>
              <a:rPr b="1" i="0" lang="en-US" sz="1100" u="none" cap="none" strike="noStrike">
                <a:solidFill>
                  <a:srgbClr val="00002E"/>
                </a:solidFill>
                <a:latin typeface="Nunito SemiBold"/>
                <a:ea typeface="Nunito SemiBold"/>
                <a:cs typeface="Nunito SemiBold"/>
                <a:sym typeface="Nunito SemiBold"/>
              </a:rPr>
              <a:t>Herramienta: Wheel of Names</a:t>
            </a:r>
            <a:endParaRPr b="0" i="0" sz="1100" u="none" cap="none" strike="noStrike"/>
          </a:p>
        </p:txBody>
      </p:sp>
      <p:sp>
        <p:nvSpPr>
          <p:cNvPr id="137" name="Google Shape;137;p6"/>
          <p:cNvSpPr/>
          <p:nvPr/>
        </p:nvSpPr>
        <p:spPr>
          <a:xfrm>
            <a:off x="4698900" y="1591947"/>
            <a:ext cx="3597000" cy="4245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00002E"/>
              </a:buClr>
              <a:buSzPts val="750"/>
              <a:buFont typeface="PT Sans"/>
              <a:buNone/>
            </a:pPr>
            <a:r>
              <a:rPr b="0" i="0" lang="en-US" sz="750" u="none" cap="none" strike="noStrike">
                <a:solidFill>
                  <a:srgbClr val="00002E"/>
                </a:solidFill>
                <a:latin typeface="PT Sans"/>
                <a:ea typeface="PT Sans"/>
                <a:cs typeface="PT Sans"/>
                <a:sym typeface="PT Sans"/>
              </a:rPr>
              <a:t>Usaremos una ruleta digital para seleccionar aleatoriamente a cada estudiante. Esta herramienta garantiza que todos tengan la oportunidad de presentarse de manera equitativa y dinámica.</a:t>
            </a:r>
            <a:endParaRPr b="0" i="0" sz="750" u="none" cap="none" strike="noStrike"/>
          </a:p>
        </p:txBody>
      </p:sp>
      <p:sp>
        <p:nvSpPr>
          <p:cNvPr id="138" name="Google Shape;138;p6"/>
          <p:cNvSpPr/>
          <p:nvPr/>
        </p:nvSpPr>
        <p:spPr>
          <a:xfrm>
            <a:off x="4698950" y="2142674"/>
            <a:ext cx="1179300" cy="147300"/>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00002E"/>
              </a:buClr>
              <a:buSzPts val="900"/>
              <a:buFont typeface="Nunito SemiBold"/>
              <a:buNone/>
            </a:pPr>
            <a:r>
              <a:rPr b="1" i="0" lang="en-US" sz="900" u="none" cap="none" strike="noStrike">
                <a:solidFill>
                  <a:srgbClr val="00002E"/>
                </a:solidFill>
                <a:latin typeface="Nunito SemiBold"/>
                <a:ea typeface="Nunito SemiBold"/>
                <a:cs typeface="Nunito SemiBold"/>
                <a:sym typeface="Nunito SemiBold"/>
              </a:rPr>
              <a:t>Qué debes compartir:</a:t>
            </a:r>
            <a:endParaRPr b="0" i="0" sz="900" u="none" cap="none" strike="noStrike"/>
          </a:p>
        </p:txBody>
      </p:sp>
      <p:sp>
        <p:nvSpPr>
          <p:cNvPr id="139" name="Google Shape;139;p6"/>
          <p:cNvSpPr/>
          <p:nvPr/>
        </p:nvSpPr>
        <p:spPr>
          <a:xfrm>
            <a:off x="4698900" y="2375084"/>
            <a:ext cx="3597000" cy="646500"/>
          </a:xfrm>
          <a:prstGeom prst="rect">
            <a:avLst/>
          </a:prstGeom>
          <a:noFill/>
          <a:ln>
            <a:noFill/>
          </a:ln>
        </p:spPr>
        <p:txBody>
          <a:bodyPr anchorCtr="0" anchor="t" bIns="0" lIns="0" spcFirstLastPara="1" rIns="0" wrap="square" tIns="0">
            <a:noAutofit/>
          </a:bodyPr>
          <a:lstStyle/>
          <a:p>
            <a:pPr indent="-342900" lvl="0" marL="342900" marR="0" rtl="0" algn="l">
              <a:lnSpc>
                <a:spcPct val="146666"/>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Nombre completo y carné</a:t>
            </a:r>
            <a:endParaRPr b="0" i="0" sz="750" u="none" cap="none" strike="noStrike"/>
          </a:p>
          <a:p>
            <a:pPr indent="-342900" lvl="0" marL="342900" marR="0" rtl="0" algn="l">
              <a:lnSpc>
                <a:spcPct val="146666"/>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Área de interés en la ingeniería de sistemas</a:t>
            </a:r>
            <a:endParaRPr b="0" i="0" sz="750" u="none" cap="none" strike="noStrike"/>
          </a:p>
          <a:p>
            <a:pPr indent="-342900" lvl="0" marL="342900" marR="0" rtl="0" algn="l">
              <a:lnSpc>
                <a:spcPct val="146666"/>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Expectativas del curso</a:t>
            </a:r>
            <a:endParaRPr b="0" i="0" sz="750" u="none" cap="none" strike="noStrike"/>
          </a:p>
          <a:p>
            <a:pPr indent="-342900" lvl="0" marL="342900" marR="0" rtl="0" algn="l">
              <a:lnSpc>
                <a:spcPct val="146666"/>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Un dato curioso sobre ti</a:t>
            </a:r>
            <a:endParaRPr b="0" i="0" sz="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preencoded.png" id="145" name="Google Shape;145;p7"/>
          <p:cNvPicPr preferRelativeResize="0"/>
          <p:nvPr/>
        </p:nvPicPr>
        <p:blipFill rotWithShape="1">
          <a:blip r:embed="rId3">
            <a:alphaModFix/>
          </a:blip>
          <a:srcRect b="0" l="0" r="0" t="0"/>
          <a:stretch/>
        </p:blipFill>
        <p:spPr>
          <a:xfrm>
            <a:off x="0" y="0"/>
            <a:ext cx="9144000" cy="1636365"/>
          </a:xfrm>
          <a:prstGeom prst="rect">
            <a:avLst/>
          </a:prstGeom>
          <a:noFill/>
          <a:ln>
            <a:noFill/>
          </a:ln>
        </p:spPr>
      </p:pic>
      <p:sp>
        <p:nvSpPr>
          <p:cNvPr id="146" name="Google Shape;146;p7"/>
          <p:cNvSpPr/>
          <p:nvPr/>
        </p:nvSpPr>
        <p:spPr>
          <a:xfrm>
            <a:off x="523577" y="2994571"/>
            <a:ext cx="3080221" cy="38494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2E"/>
              </a:buClr>
              <a:buSzPts val="2400"/>
              <a:buFont typeface="Nunito SemiBold"/>
              <a:buNone/>
            </a:pPr>
            <a:r>
              <a:rPr b="1" i="0" lang="en-US" sz="2400" u="none" cap="none" strike="noStrike">
                <a:solidFill>
                  <a:srgbClr val="00002E"/>
                </a:solidFill>
                <a:latin typeface="Nunito SemiBold"/>
                <a:ea typeface="Nunito SemiBold"/>
                <a:cs typeface="Nunito SemiBold"/>
                <a:sym typeface="Nunito SemiBold"/>
              </a:rPr>
              <a:t>Programa del Curso</a:t>
            </a:r>
            <a:endParaRPr b="0" i="0" sz="2400" u="none" cap="none" strike="noStrike"/>
          </a:p>
        </p:txBody>
      </p:sp>
      <p:sp>
        <p:nvSpPr>
          <p:cNvPr id="147" name="Google Shape;147;p7"/>
          <p:cNvSpPr/>
          <p:nvPr/>
        </p:nvSpPr>
        <p:spPr>
          <a:xfrm>
            <a:off x="523577" y="3575819"/>
            <a:ext cx="8096845" cy="20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LECTURA DEL PROGRAMA DEL LABORATORIO DEL CURSO</a:t>
            </a:r>
            <a:endParaRPr b="0" i="0" sz="10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8"/>
          <p:cNvSpPr/>
          <p:nvPr/>
        </p:nvSpPr>
        <p:spPr>
          <a:xfrm>
            <a:off x="776660" y="327645"/>
            <a:ext cx="3678510" cy="300782"/>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00002E"/>
              </a:buClr>
              <a:buSzPts val="1850"/>
              <a:buFont typeface="Nunito SemiBold"/>
              <a:buNone/>
            </a:pPr>
            <a:r>
              <a:rPr b="1" i="0" lang="en-US" sz="1850" u="none" cap="none" strike="noStrike">
                <a:solidFill>
                  <a:srgbClr val="00002E"/>
                </a:solidFill>
                <a:latin typeface="Nunito SemiBold"/>
                <a:ea typeface="Nunito SemiBold"/>
                <a:cs typeface="Nunito SemiBold"/>
                <a:sym typeface="Nunito SemiBold"/>
              </a:rPr>
              <a:t>Evaluación del Nuevo Laboratorio</a:t>
            </a:r>
            <a:endParaRPr b="0" i="0" sz="1850" u="none" cap="none" strike="noStrike"/>
          </a:p>
        </p:txBody>
      </p:sp>
      <p:sp>
        <p:nvSpPr>
          <p:cNvPr id="154" name="Google Shape;154;p8"/>
          <p:cNvSpPr/>
          <p:nvPr/>
        </p:nvSpPr>
        <p:spPr>
          <a:xfrm>
            <a:off x="776660" y="828080"/>
            <a:ext cx="2153989" cy="180454"/>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00002E"/>
              </a:buClr>
              <a:buSzPts val="1100"/>
              <a:buFont typeface="Nunito SemiBold"/>
              <a:buNone/>
            </a:pPr>
            <a:r>
              <a:rPr b="1" i="0" lang="en-US" sz="1100" u="none" cap="none" strike="noStrike">
                <a:solidFill>
                  <a:srgbClr val="00002E"/>
                </a:solidFill>
                <a:latin typeface="Nunito SemiBold"/>
                <a:ea typeface="Nunito SemiBold"/>
                <a:cs typeface="Nunito SemiBold"/>
                <a:sym typeface="Nunito SemiBold"/>
              </a:rPr>
              <a:t>Propósito de la Evaluación Inicial</a:t>
            </a:r>
            <a:endParaRPr b="0" i="0" sz="1100" u="none" cap="none" strike="noStrike"/>
          </a:p>
        </p:txBody>
      </p:sp>
      <p:sp>
        <p:nvSpPr>
          <p:cNvPr id="155" name="Google Shape;155;p8"/>
          <p:cNvSpPr/>
          <p:nvPr/>
        </p:nvSpPr>
        <p:spPr>
          <a:xfrm>
            <a:off x="776660" y="1088380"/>
            <a:ext cx="4062561" cy="582513"/>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00002E"/>
              </a:buClr>
              <a:buSzPts val="800"/>
              <a:buFont typeface="PT Sans"/>
              <a:buNone/>
            </a:pPr>
            <a:r>
              <a:rPr b="0" i="0" lang="en-US" sz="800" u="none" cap="none" strike="noStrike">
                <a:solidFill>
                  <a:srgbClr val="00002E"/>
                </a:solidFill>
                <a:latin typeface="PT Sans"/>
                <a:ea typeface="PT Sans"/>
                <a:cs typeface="PT Sans"/>
                <a:sym typeface="PT Sans"/>
              </a:rPr>
              <a:t>Antes de iniciar con el contenido nuevo, realizaremos una evaluación diagnóstica que nos permitirá medir el nivel inicial del grupo en las competencias esenciales de Teoría de Sistemas 2. Esta información es valiosa para adaptar el ritmo, profundidad y enfoque del laboratorio.</a:t>
            </a:r>
            <a:endParaRPr b="0" i="0" sz="800" u="none" cap="none" strike="noStrike"/>
          </a:p>
        </p:txBody>
      </p:sp>
      <p:sp>
        <p:nvSpPr>
          <p:cNvPr id="156" name="Google Shape;156;p8"/>
          <p:cNvSpPr/>
          <p:nvPr/>
        </p:nvSpPr>
        <p:spPr>
          <a:xfrm>
            <a:off x="776660" y="1750740"/>
            <a:ext cx="1203201" cy="150391"/>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00002E"/>
              </a:buClr>
              <a:buSzPts val="900"/>
              <a:buFont typeface="Nunito SemiBold"/>
              <a:buNone/>
            </a:pPr>
            <a:r>
              <a:rPr b="1" i="0" lang="en-US" sz="900" u="none" cap="none" strike="noStrike">
                <a:solidFill>
                  <a:srgbClr val="00002E"/>
                </a:solidFill>
                <a:latin typeface="Nunito SemiBold"/>
                <a:ea typeface="Nunito SemiBold"/>
                <a:cs typeface="Nunito SemiBold"/>
                <a:sym typeface="Nunito SemiBold"/>
              </a:rPr>
              <a:t>Forma de Evaluación</a:t>
            </a:r>
            <a:endParaRPr b="0" i="0" sz="900" u="none" cap="none" strike="noStrike"/>
          </a:p>
        </p:txBody>
      </p:sp>
      <p:sp>
        <p:nvSpPr>
          <p:cNvPr id="157" name="Google Shape;157;p8"/>
          <p:cNvSpPr/>
          <p:nvPr/>
        </p:nvSpPr>
        <p:spPr>
          <a:xfrm>
            <a:off x="776660" y="1980977"/>
            <a:ext cx="4062561" cy="436885"/>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00002E"/>
              </a:buClr>
              <a:buSzPts val="800"/>
              <a:buFont typeface="PT Sans"/>
              <a:buNone/>
            </a:pPr>
            <a:r>
              <a:rPr b="0" i="0" lang="en-US" sz="800" u="none" cap="none" strike="noStrike">
                <a:solidFill>
                  <a:srgbClr val="00002E"/>
                </a:solidFill>
                <a:latin typeface="PT Sans"/>
                <a:ea typeface="PT Sans"/>
                <a:cs typeface="PT Sans"/>
                <a:sym typeface="PT Sans"/>
              </a:rPr>
              <a:t>Utilizaremos una plataforma interactiva como </a:t>
            </a:r>
            <a:r>
              <a:rPr b="1" i="0" lang="en-US" sz="800" u="none" cap="none" strike="noStrike">
                <a:solidFill>
                  <a:srgbClr val="00002E"/>
                </a:solidFill>
                <a:latin typeface="PT Sans"/>
                <a:ea typeface="PT Sans"/>
                <a:cs typeface="PT Sans"/>
                <a:sym typeface="PT Sans"/>
              </a:rPr>
              <a:t>Kahoot</a:t>
            </a:r>
            <a:r>
              <a:rPr b="0" i="0" lang="en-US" sz="800" u="none" cap="none" strike="noStrike">
                <a:solidFill>
                  <a:srgbClr val="00002E"/>
                </a:solidFill>
                <a:latin typeface="PT Sans"/>
                <a:ea typeface="PT Sans"/>
                <a:cs typeface="PT Sans"/>
                <a:sym typeface="PT Sans"/>
              </a:rPr>
              <a:t> que permiten evaluaciones dinámicas en tiempo real. Estas herramientas </a:t>
            </a:r>
            <a:r>
              <a:rPr lang="en-US" sz="800">
                <a:solidFill>
                  <a:srgbClr val="00002E"/>
                </a:solidFill>
                <a:latin typeface="PT Sans"/>
                <a:ea typeface="PT Sans"/>
                <a:cs typeface="PT Sans"/>
                <a:sym typeface="PT Sans"/>
              </a:rPr>
              <a:t>gamificar</a:t>
            </a:r>
            <a:r>
              <a:rPr b="0" i="0" lang="en-US" sz="800" u="none" cap="none" strike="noStrike">
                <a:solidFill>
                  <a:srgbClr val="00002E"/>
                </a:solidFill>
                <a:latin typeface="PT Sans"/>
                <a:ea typeface="PT Sans"/>
                <a:cs typeface="PT Sans"/>
                <a:sym typeface="PT Sans"/>
              </a:rPr>
              <a:t> el proceso, reduciendo la ansiedad y aumentando la participación activa de todos los estudiantes.</a:t>
            </a:r>
            <a:endParaRPr b="0" i="0" sz="800" u="none" cap="none" strike="noStrike"/>
          </a:p>
        </p:txBody>
      </p:sp>
      <p:sp>
        <p:nvSpPr>
          <p:cNvPr id="158" name="Google Shape;158;p8"/>
          <p:cNvSpPr/>
          <p:nvPr/>
        </p:nvSpPr>
        <p:spPr>
          <a:xfrm>
            <a:off x="776660" y="2497708"/>
            <a:ext cx="1203201" cy="150391"/>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00002E"/>
              </a:buClr>
              <a:buSzPts val="900"/>
              <a:buFont typeface="Nunito SemiBold"/>
              <a:buNone/>
            </a:pPr>
            <a:r>
              <a:rPr b="1" i="0" lang="en-US" sz="900" u="none" cap="none" strike="noStrike">
                <a:solidFill>
                  <a:srgbClr val="00002E"/>
                </a:solidFill>
                <a:latin typeface="Nunito SemiBold"/>
                <a:ea typeface="Nunito SemiBold"/>
                <a:cs typeface="Nunito SemiBold"/>
                <a:sym typeface="Nunito SemiBold"/>
              </a:rPr>
              <a:t>Objetivo Principal</a:t>
            </a:r>
            <a:endParaRPr b="0" i="0" sz="900" u="none" cap="none" strike="noStrike"/>
          </a:p>
        </p:txBody>
      </p:sp>
      <p:sp>
        <p:nvSpPr>
          <p:cNvPr id="159" name="Google Shape;159;p8"/>
          <p:cNvSpPr/>
          <p:nvPr/>
        </p:nvSpPr>
        <p:spPr>
          <a:xfrm>
            <a:off x="776660" y="2727945"/>
            <a:ext cx="4062561" cy="666229"/>
          </a:xfrm>
          <a:prstGeom prst="rect">
            <a:avLst/>
          </a:prstGeom>
          <a:noFill/>
          <a:ln>
            <a:noFill/>
          </a:ln>
        </p:spPr>
        <p:txBody>
          <a:bodyPr anchorCtr="0" anchor="t" bIns="0" lIns="0" spcFirstLastPara="1" rIns="0" wrap="square" tIns="0">
            <a:noAutofit/>
          </a:bodyPr>
          <a:lstStyle/>
          <a:p>
            <a:pPr indent="-342900" lvl="0" marL="342900" marR="0" rtl="0" algn="l">
              <a:lnSpc>
                <a:spcPct val="137500"/>
              </a:lnSpc>
              <a:spcBef>
                <a:spcPts val="0"/>
              </a:spcBef>
              <a:spcAft>
                <a:spcPts val="0"/>
              </a:spcAft>
              <a:buClr>
                <a:srgbClr val="00002E"/>
              </a:buClr>
              <a:buSzPts val="800"/>
              <a:buFont typeface="PT Sans"/>
              <a:buChar char="•"/>
            </a:pPr>
            <a:r>
              <a:rPr b="0" i="0" lang="en-US" sz="800" u="none" cap="none" strike="noStrike">
                <a:solidFill>
                  <a:srgbClr val="00002E"/>
                </a:solidFill>
                <a:latin typeface="PT Sans"/>
                <a:ea typeface="PT Sans"/>
                <a:cs typeface="PT Sans"/>
                <a:sym typeface="PT Sans"/>
              </a:rPr>
              <a:t>Identificar el nivel de conocimientos en sistemas de información</a:t>
            </a:r>
            <a:endParaRPr b="0" i="0" sz="800" u="none" cap="none" strike="noStrike"/>
          </a:p>
          <a:p>
            <a:pPr indent="-342900" lvl="0" marL="342900" marR="0" rtl="0" algn="l">
              <a:lnSpc>
                <a:spcPct val="137500"/>
              </a:lnSpc>
              <a:spcBef>
                <a:spcPts val="0"/>
              </a:spcBef>
              <a:spcAft>
                <a:spcPts val="0"/>
              </a:spcAft>
              <a:buClr>
                <a:srgbClr val="00002E"/>
              </a:buClr>
              <a:buSzPts val="800"/>
              <a:buFont typeface="PT Sans"/>
              <a:buChar char="•"/>
            </a:pPr>
            <a:r>
              <a:rPr b="0" i="0" lang="en-US" sz="800" u="none" cap="none" strike="noStrike">
                <a:solidFill>
                  <a:srgbClr val="00002E"/>
                </a:solidFill>
                <a:latin typeface="PT Sans"/>
                <a:ea typeface="PT Sans"/>
                <a:cs typeface="PT Sans"/>
                <a:sym typeface="PT Sans"/>
              </a:rPr>
              <a:t>Detectar experiencia previa con herramientas de modelado</a:t>
            </a:r>
            <a:endParaRPr b="0" i="0" sz="800" u="none" cap="none" strike="noStrike"/>
          </a:p>
          <a:p>
            <a:pPr indent="-342900" lvl="0" marL="342900" marR="0" rtl="0" algn="l">
              <a:lnSpc>
                <a:spcPct val="137500"/>
              </a:lnSpc>
              <a:spcBef>
                <a:spcPts val="0"/>
              </a:spcBef>
              <a:spcAft>
                <a:spcPts val="0"/>
              </a:spcAft>
              <a:buClr>
                <a:srgbClr val="00002E"/>
              </a:buClr>
              <a:buSzPts val="800"/>
              <a:buFont typeface="PT Sans"/>
              <a:buChar char="•"/>
            </a:pPr>
            <a:r>
              <a:rPr b="0" i="0" lang="en-US" sz="800" u="none" cap="none" strike="noStrike">
                <a:solidFill>
                  <a:srgbClr val="00002E"/>
                </a:solidFill>
                <a:latin typeface="PT Sans"/>
                <a:ea typeface="PT Sans"/>
                <a:cs typeface="PT Sans"/>
                <a:sym typeface="PT Sans"/>
              </a:rPr>
              <a:t>Evaluar comprensión de conceptos fundamentales</a:t>
            </a:r>
            <a:endParaRPr b="0" i="0" sz="800" u="none" cap="none" strike="noStrike"/>
          </a:p>
          <a:p>
            <a:pPr indent="-342900" lvl="0" marL="342900" marR="0" rtl="0" algn="l">
              <a:lnSpc>
                <a:spcPct val="137500"/>
              </a:lnSpc>
              <a:spcBef>
                <a:spcPts val="0"/>
              </a:spcBef>
              <a:spcAft>
                <a:spcPts val="0"/>
              </a:spcAft>
              <a:buClr>
                <a:srgbClr val="00002E"/>
              </a:buClr>
              <a:buSzPts val="800"/>
              <a:buFont typeface="PT Sans"/>
              <a:buChar char="•"/>
            </a:pPr>
            <a:r>
              <a:rPr b="0" i="0" lang="en-US" sz="800" u="none" cap="none" strike="noStrike">
                <a:solidFill>
                  <a:srgbClr val="00002E"/>
                </a:solidFill>
                <a:latin typeface="PT Sans"/>
                <a:ea typeface="PT Sans"/>
                <a:cs typeface="PT Sans"/>
                <a:sym typeface="PT Sans"/>
              </a:rPr>
              <a:t>Establecer grupos de trabajo balanceados</a:t>
            </a:r>
            <a:endParaRPr b="0" i="0" sz="800" u="none" cap="none" strike="noStrike"/>
          </a:p>
        </p:txBody>
      </p:sp>
      <p:pic>
        <p:nvPicPr>
          <p:cNvPr descr="preencoded.png" id="160" name="Google Shape;160;p8"/>
          <p:cNvPicPr preferRelativeResize="0"/>
          <p:nvPr/>
        </p:nvPicPr>
        <p:blipFill rotWithShape="1">
          <a:blip r:embed="rId3">
            <a:alphaModFix/>
          </a:blip>
          <a:srcRect b="0" l="0" r="0" t="0"/>
          <a:stretch/>
        </p:blipFill>
        <p:spPr>
          <a:xfrm>
            <a:off x="5093419" y="838051"/>
            <a:ext cx="3278535" cy="3278535"/>
          </a:xfrm>
          <a:prstGeom prst="rect">
            <a:avLst/>
          </a:prstGeom>
          <a:noFill/>
          <a:ln>
            <a:noFill/>
          </a:ln>
        </p:spPr>
      </p:pic>
      <p:sp>
        <p:nvSpPr>
          <p:cNvPr id="161" name="Google Shape;161;p8"/>
          <p:cNvSpPr/>
          <p:nvPr/>
        </p:nvSpPr>
        <p:spPr>
          <a:xfrm>
            <a:off x="776660" y="4296221"/>
            <a:ext cx="7590606" cy="519633"/>
          </a:xfrm>
          <a:prstGeom prst="roundRect">
            <a:avLst>
              <a:gd fmla="val 29523" name="adj"/>
            </a:avLst>
          </a:prstGeom>
          <a:solidFill>
            <a:srgbClr val="B7C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 name="Google Shape;162;p8"/>
          <p:cNvPicPr preferRelativeResize="0"/>
          <p:nvPr/>
        </p:nvPicPr>
        <p:blipFill rotWithShape="1">
          <a:blip r:embed="rId4">
            <a:alphaModFix/>
          </a:blip>
          <a:srcRect b="0" l="0" r="0" t="0"/>
          <a:stretch/>
        </p:blipFill>
        <p:spPr>
          <a:xfrm>
            <a:off x="878904" y="4444008"/>
            <a:ext cx="127769" cy="102245"/>
          </a:xfrm>
          <a:prstGeom prst="rect">
            <a:avLst/>
          </a:prstGeom>
          <a:noFill/>
          <a:ln>
            <a:noFill/>
          </a:ln>
        </p:spPr>
      </p:pic>
      <p:sp>
        <p:nvSpPr>
          <p:cNvPr id="163" name="Google Shape;163;p8"/>
          <p:cNvSpPr/>
          <p:nvPr/>
        </p:nvSpPr>
        <p:spPr>
          <a:xfrm>
            <a:off x="1108918" y="4401592"/>
            <a:ext cx="7156103" cy="291257"/>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000000"/>
              </a:buClr>
              <a:buSzPts val="800"/>
              <a:buFont typeface="PT Sans"/>
              <a:buNone/>
            </a:pPr>
            <a:r>
              <a:rPr b="1" i="0" lang="en-US" sz="800" u="none" cap="none" strike="noStrike">
                <a:solidFill>
                  <a:srgbClr val="000000"/>
                </a:solidFill>
                <a:latin typeface="PT Sans"/>
                <a:ea typeface="PT Sans"/>
                <a:cs typeface="PT Sans"/>
                <a:sym typeface="PT Sans"/>
              </a:rPr>
              <a:t>Nota importante:</a:t>
            </a:r>
            <a:r>
              <a:rPr b="0" i="0" lang="en-US" sz="800" u="none" cap="none" strike="noStrike">
                <a:solidFill>
                  <a:srgbClr val="000000"/>
                </a:solidFill>
                <a:latin typeface="PT Sans"/>
                <a:ea typeface="PT Sans"/>
                <a:cs typeface="PT Sans"/>
                <a:sym typeface="PT Sans"/>
              </a:rPr>
              <a:t> Esta evaluación no tiene peso en la nota final. Su único propósito es diagnóstico y planificación pedagógica. Sean honestos en sus respuestas para que podamos ofrecerles la mejor experiencia de aprendizaje posible.</a:t>
            </a:r>
            <a:endParaRPr b="0" i="0" sz="8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preencoded.png" id="169" name="Google Shape;169;p9"/>
          <p:cNvPicPr preferRelativeResize="0"/>
          <p:nvPr/>
        </p:nvPicPr>
        <p:blipFill rotWithShape="1">
          <a:blip r:embed="rId3">
            <a:alphaModFix/>
          </a:blip>
          <a:srcRect b="0" l="0" r="0" t="0"/>
          <a:stretch/>
        </p:blipFill>
        <p:spPr>
          <a:xfrm>
            <a:off x="0" y="0"/>
            <a:ext cx="9144000" cy="1636365"/>
          </a:xfrm>
          <a:prstGeom prst="rect">
            <a:avLst/>
          </a:prstGeom>
          <a:noFill/>
          <a:ln>
            <a:noFill/>
          </a:ln>
        </p:spPr>
      </p:pic>
      <p:sp>
        <p:nvSpPr>
          <p:cNvPr id="170" name="Google Shape;170;p9"/>
          <p:cNvSpPr/>
          <p:nvPr/>
        </p:nvSpPr>
        <p:spPr>
          <a:xfrm>
            <a:off x="523577" y="2994571"/>
            <a:ext cx="5543550"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2400"/>
              <a:buFont typeface="Nunito SemiBold"/>
              <a:buNone/>
            </a:pPr>
            <a:r>
              <a:rPr b="1" i="0" lang="en-US" sz="2400" u="none" cap="none" strike="noStrike">
                <a:solidFill>
                  <a:srgbClr val="00002E"/>
                </a:solidFill>
                <a:latin typeface="Nunito SemiBold"/>
                <a:ea typeface="Nunito SemiBold"/>
                <a:cs typeface="Nunito SemiBold"/>
                <a:sym typeface="Nunito SemiBold"/>
              </a:rPr>
              <a:t>Tarea de Fortalecimiento </a:t>
            </a:r>
            <a:r>
              <a:rPr b="1" lang="en-US" sz="2400">
                <a:solidFill>
                  <a:srgbClr val="00002E"/>
                </a:solidFill>
                <a:latin typeface="Nunito SemiBold"/>
                <a:ea typeface="Nunito SemiBold"/>
                <a:cs typeface="Nunito SemiBold"/>
                <a:sym typeface="Nunito SemiBold"/>
              </a:rPr>
              <a:t>Académico</a:t>
            </a:r>
            <a:endParaRPr b="0" i="0" sz="2400" u="none" cap="none" strike="noStrike"/>
          </a:p>
        </p:txBody>
      </p:sp>
      <p:sp>
        <p:nvSpPr>
          <p:cNvPr id="171" name="Google Shape;171;p9"/>
          <p:cNvSpPr/>
          <p:nvPr/>
        </p:nvSpPr>
        <p:spPr>
          <a:xfrm>
            <a:off x="523577" y="3575819"/>
            <a:ext cx="8554045"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LECTURA DE LA TAREA DE FORTALECIMIENTO </a:t>
            </a:r>
            <a:r>
              <a:rPr lang="en-US" sz="1000">
                <a:solidFill>
                  <a:srgbClr val="00002E"/>
                </a:solidFill>
                <a:latin typeface="PT Sans"/>
                <a:ea typeface="PT Sans"/>
                <a:cs typeface="PT Sans"/>
                <a:sym typeface="PT Sans"/>
              </a:rPr>
              <a:t>ACADÉMICO</a:t>
            </a:r>
            <a:r>
              <a:rPr b="0" i="0" lang="en-US" sz="1000" u="none" cap="none" strike="noStrike">
                <a:solidFill>
                  <a:srgbClr val="00002E"/>
                </a:solidFill>
                <a:latin typeface="PT Sans"/>
                <a:ea typeface="PT Sans"/>
                <a:cs typeface="PT Sans"/>
                <a:sym typeface="PT Sans"/>
              </a:rPr>
              <a:t> </a:t>
            </a:r>
            <a:endParaRPr b="0" i="0" sz="10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descr="preencoded.png" id="177" name="Google Shape;177;p10"/>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178" name="Google Shape;178;p10"/>
          <p:cNvSpPr/>
          <p:nvPr/>
        </p:nvSpPr>
        <p:spPr>
          <a:xfrm>
            <a:off x="474538" y="330324"/>
            <a:ext cx="3482727" cy="34885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00002E"/>
              </a:buClr>
              <a:buSzPts val="2150"/>
              <a:buFont typeface="Nunito SemiBold"/>
              <a:buNone/>
            </a:pPr>
            <a:r>
              <a:rPr b="1" i="0" lang="en-US" sz="2150" u="none" cap="none" strike="noStrike">
                <a:solidFill>
                  <a:srgbClr val="00002E"/>
                </a:solidFill>
                <a:latin typeface="Nunito SemiBold"/>
                <a:ea typeface="Nunito SemiBold"/>
                <a:cs typeface="Nunito SemiBold"/>
                <a:sym typeface="Nunito SemiBold"/>
              </a:rPr>
              <a:t>Resumen y Próximos Pasos</a:t>
            </a:r>
            <a:endParaRPr b="0" i="0" sz="2150" u="none" cap="none" strike="noStrike"/>
          </a:p>
        </p:txBody>
      </p:sp>
      <p:sp>
        <p:nvSpPr>
          <p:cNvPr id="179" name="Google Shape;179;p10"/>
          <p:cNvSpPr/>
          <p:nvPr/>
        </p:nvSpPr>
        <p:spPr>
          <a:xfrm>
            <a:off x="474538" y="840432"/>
            <a:ext cx="4765923" cy="542479"/>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002E"/>
              </a:buClr>
              <a:buSzPts val="900"/>
              <a:buFont typeface="PT Sans"/>
              <a:buNone/>
            </a:pPr>
            <a:r>
              <a:rPr b="0" i="0" lang="en-US" sz="900" u="none" cap="none" strike="noStrike">
                <a:solidFill>
                  <a:srgbClr val="00002E"/>
                </a:solidFill>
                <a:latin typeface="PT Sans"/>
                <a:ea typeface="PT Sans"/>
                <a:cs typeface="PT Sans"/>
                <a:sym typeface="PT Sans"/>
              </a:rPr>
              <a:t>Hemos completado la Semana 0 del laboratorio de Teoría de Sistemas 2. Ahora tienen una visión clara del curso, conocen a sus compañeros y han realizado las evaluaciones diagnósticas que nos guiarán en el proceso de aprendizaje.</a:t>
            </a:r>
            <a:endParaRPr b="0" i="0" sz="900" u="none" cap="none" strike="noStrike"/>
          </a:p>
        </p:txBody>
      </p:sp>
      <p:sp>
        <p:nvSpPr>
          <p:cNvPr id="180" name="Google Shape;180;p10"/>
          <p:cNvSpPr/>
          <p:nvPr/>
        </p:nvSpPr>
        <p:spPr>
          <a:xfrm>
            <a:off x="474538" y="1503834"/>
            <a:ext cx="2329235" cy="1872183"/>
          </a:xfrm>
          <a:prstGeom prst="roundRect">
            <a:avLst>
              <a:gd fmla="val 9505" name="adj"/>
            </a:avLst>
          </a:prstGeom>
          <a:solidFill>
            <a:srgbClr val="F3F3FF"/>
          </a:solidFill>
          <a:ln cap="flat" cmpd="sng" w="14275">
            <a:solidFill>
              <a:srgbClr val="2D4D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0"/>
          <p:cNvSpPr/>
          <p:nvPr/>
        </p:nvSpPr>
        <p:spPr>
          <a:xfrm>
            <a:off x="607442" y="1636737"/>
            <a:ext cx="355848" cy="355848"/>
          </a:xfrm>
          <a:prstGeom prst="roundRect">
            <a:avLst>
              <a:gd fmla="val 16058622" name="adj"/>
            </a:avLst>
          </a:prstGeom>
          <a:solidFill>
            <a:srgbClr val="2D4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2" name="Google Shape;182;p10"/>
          <p:cNvPicPr preferRelativeResize="0"/>
          <p:nvPr/>
        </p:nvPicPr>
        <p:blipFill rotWithShape="1">
          <a:blip r:embed="rId4">
            <a:alphaModFix/>
          </a:blip>
          <a:srcRect b="0" l="0" r="0" t="0"/>
          <a:stretch/>
        </p:blipFill>
        <p:spPr>
          <a:xfrm>
            <a:off x="705296" y="1734592"/>
            <a:ext cx="160139" cy="160139"/>
          </a:xfrm>
          <a:prstGeom prst="rect">
            <a:avLst/>
          </a:prstGeom>
          <a:noFill/>
          <a:ln>
            <a:noFill/>
          </a:ln>
        </p:spPr>
      </p:pic>
      <p:sp>
        <p:nvSpPr>
          <p:cNvPr id="183" name="Google Shape;183;p10"/>
          <p:cNvSpPr/>
          <p:nvPr/>
        </p:nvSpPr>
        <p:spPr>
          <a:xfrm>
            <a:off x="607442" y="2100039"/>
            <a:ext cx="1395710" cy="174501"/>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0002E"/>
              </a:buClr>
              <a:buSzPts val="1050"/>
              <a:buFont typeface="Nunito SemiBold"/>
              <a:buNone/>
            </a:pPr>
            <a:r>
              <a:rPr b="1" i="0" lang="en-US" sz="1050" u="none" cap="none" strike="noStrike">
                <a:solidFill>
                  <a:srgbClr val="00002E"/>
                </a:solidFill>
                <a:latin typeface="Nunito SemiBold"/>
                <a:ea typeface="Nunito SemiBold"/>
                <a:cs typeface="Nunito SemiBold"/>
                <a:sym typeface="Nunito SemiBold"/>
              </a:rPr>
              <a:t>Próxima Sesión</a:t>
            </a:r>
            <a:endParaRPr b="0" i="0" sz="1050" u="none" cap="none" strike="noStrike"/>
          </a:p>
        </p:txBody>
      </p:sp>
      <p:sp>
        <p:nvSpPr>
          <p:cNvPr id="184" name="Google Shape;184;p10"/>
          <p:cNvSpPr/>
          <p:nvPr/>
        </p:nvSpPr>
        <p:spPr>
          <a:xfrm>
            <a:off x="607442" y="2338983"/>
            <a:ext cx="2063428" cy="361652"/>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002E"/>
              </a:buClr>
              <a:buSzPts val="900"/>
              <a:buFont typeface="PT Sans"/>
              <a:buNone/>
            </a:pPr>
            <a:r>
              <a:rPr b="0" i="0" lang="en-US" sz="900" u="none" cap="none" strike="noStrike">
                <a:solidFill>
                  <a:srgbClr val="00002E"/>
                </a:solidFill>
                <a:latin typeface="PT Sans"/>
                <a:ea typeface="PT Sans"/>
                <a:cs typeface="PT Sans"/>
                <a:sym typeface="PT Sans"/>
              </a:rPr>
              <a:t>Iniciaremos con el primer tema del programa.</a:t>
            </a:r>
            <a:endParaRPr b="0" i="0" sz="900" u="none" cap="none" strike="noStrike"/>
          </a:p>
        </p:txBody>
      </p:sp>
      <p:sp>
        <p:nvSpPr>
          <p:cNvPr id="185" name="Google Shape;185;p10"/>
          <p:cNvSpPr/>
          <p:nvPr/>
        </p:nvSpPr>
        <p:spPr>
          <a:xfrm>
            <a:off x="2911227" y="1503834"/>
            <a:ext cx="2329235" cy="1872183"/>
          </a:xfrm>
          <a:prstGeom prst="roundRect">
            <a:avLst>
              <a:gd fmla="val 9505" name="adj"/>
            </a:avLst>
          </a:prstGeom>
          <a:solidFill>
            <a:srgbClr val="F3F3FF"/>
          </a:solidFill>
          <a:ln cap="flat" cmpd="sng" w="14275">
            <a:solidFill>
              <a:srgbClr val="018C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3044130" y="1636737"/>
            <a:ext cx="355848" cy="355848"/>
          </a:xfrm>
          <a:prstGeom prst="roundRect">
            <a:avLst>
              <a:gd fmla="val 16058622" name="adj"/>
            </a:avLst>
          </a:prstGeom>
          <a:solidFill>
            <a:srgbClr val="018C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7" name="Google Shape;187;p10"/>
          <p:cNvPicPr preferRelativeResize="0"/>
          <p:nvPr/>
        </p:nvPicPr>
        <p:blipFill rotWithShape="1">
          <a:blip r:embed="rId4">
            <a:alphaModFix/>
          </a:blip>
          <a:srcRect b="0" l="0" r="0" t="0"/>
          <a:stretch/>
        </p:blipFill>
        <p:spPr>
          <a:xfrm>
            <a:off x="3141985" y="1734592"/>
            <a:ext cx="160139" cy="160139"/>
          </a:xfrm>
          <a:prstGeom prst="rect">
            <a:avLst/>
          </a:prstGeom>
          <a:noFill/>
          <a:ln>
            <a:noFill/>
          </a:ln>
        </p:spPr>
      </p:pic>
      <p:sp>
        <p:nvSpPr>
          <p:cNvPr id="188" name="Google Shape;188;p10"/>
          <p:cNvSpPr/>
          <p:nvPr/>
        </p:nvSpPr>
        <p:spPr>
          <a:xfrm>
            <a:off x="3044130" y="2100039"/>
            <a:ext cx="1396826" cy="174501"/>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0002E"/>
              </a:buClr>
              <a:buSzPts val="1050"/>
              <a:buFont typeface="Nunito SemiBold"/>
              <a:buNone/>
            </a:pPr>
            <a:r>
              <a:rPr b="1" i="0" lang="en-US" sz="1050" u="none" cap="none" strike="noStrike">
                <a:solidFill>
                  <a:srgbClr val="00002E"/>
                </a:solidFill>
                <a:latin typeface="Nunito SemiBold"/>
                <a:ea typeface="Nunito SemiBold"/>
                <a:cs typeface="Nunito SemiBold"/>
                <a:sym typeface="Nunito SemiBold"/>
              </a:rPr>
              <a:t>Formación de Equipos</a:t>
            </a:r>
            <a:endParaRPr b="0" i="0" sz="1050" u="none" cap="none" strike="noStrike"/>
          </a:p>
        </p:txBody>
      </p:sp>
      <p:sp>
        <p:nvSpPr>
          <p:cNvPr id="189" name="Google Shape;189;p10"/>
          <p:cNvSpPr/>
          <p:nvPr/>
        </p:nvSpPr>
        <p:spPr>
          <a:xfrm>
            <a:off x="3044130" y="2338983"/>
            <a:ext cx="2063428" cy="904131"/>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002E"/>
              </a:buClr>
              <a:buSzPts val="900"/>
              <a:buFont typeface="PT Sans"/>
              <a:buNone/>
            </a:pPr>
            <a:r>
              <a:rPr b="0" i="0" lang="en-US" sz="900" u="none" cap="none" strike="noStrike">
                <a:solidFill>
                  <a:srgbClr val="00002E"/>
                </a:solidFill>
                <a:latin typeface="PT Sans"/>
                <a:ea typeface="PT Sans"/>
                <a:cs typeface="PT Sans"/>
                <a:sym typeface="PT Sans"/>
              </a:rPr>
              <a:t>Basándonos en los diagnósticos, formaremos equipos de trabajo balanceados para el proyecto del semestre. Los equipos se anunciarán al inicio de la próxima clase.</a:t>
            </a:r>
            <a:endParaRPr b="0" i="0" sz="900" u="none" cap="none" strike="noStrike"/>
          </a:p>
        </p:txBody>
      </p:sp>
      <p:sp>
        <p:nvSpPr>
          <p:cNvPr id="190" name="Google Shape;190;p10"/>
          <p:cNvSpPr/>
          <p:nvPr/>
        </p:nvSpPr>
        <p:spPr>
          <a:xfrm>
            <a:off x="474538" y="3483471"/>
            <a:ext cx="4765923" cy="1329705"/>
          </a:xfrm>
          <a:prstGeom prst="roundRect">
            <a:avLst>
              <a:gd fmla="val 13383" name="adj"/>
            </a:avLst>
          </a:prstGeom>
          <a:solidFill>
            <a:srgbClr val="F3F3FF"/>
          </a:solidFill>
          <a:ln cap="flat" cmpd="sng" w="14275">
            <a:solidFill>
              <a:srgbClr val="DA3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607442" y="3616375"/>
            <a:ext cx="355848" cy="355848"/>
          </a:xfrm>
          <a:prstGeom prst="roundRect">
            <a:avLst>
              <a:gd fmla="val 16058622" name="adj"/>
            </a:avLst>
          </a:prstGeom>
          <a:solidFill>
            <a:srgbClr val="DA33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2" name="Google Shape;192;p10"/>
          <p:cNvPicPr preferRelativeResize="0"/>
          <p:nvPr/>
        </p:nvPicPr>
        <p:blipFill rotWithShape="1">
          <a:blip r:embed="rId4">
            <a:alphaModFix/>
          </a:blip>
          <a:srcRect b="0" l="0" r="0" t="0"/>
          <a:stretch/>
        </p:blipFill>
        <p:spPr>
          <a:xfrm>
            <a:off x="705296" y="3714229"/>
            <a:ext cx="160139" cy="160139"/>
          </a:xfrm>
          <a:prstGeom prst="rect">
            <a:avLst/>
          </a:prstGeom>
          <a:noFill/>
          <a:ln>
            <a:noFill/>
          </a:ln>
        </p:spPr>
      </p:pic>
      <p:sp>
        <p:nvSpPr>
          <p:cNvPr id="193" name="Google Shape;193;p10"/>
          <p:cNvSpPr/>
          <p:nvPr/>
        </p:nvSpPr>
        <p:spPr>
          <a:xfrm>
            <a:off x="607442" y="4079677"/>
            <a:ext cx="1395710" cy="174501"/>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0002E"/>
              </a:buClr>
              <a:buSzPts val="1050"/>
              <a:buFont typeface="Nunito SemiBold"/>
              <a:buNone/>
            </a:pPr>
            <a:r>
              <a:rPr b="1" i="0" lang="en-US" sz="1050" u="none" cap="none" strike="noStrike">
                <a:solidFill>
                  <a:srgbClr val="00002E"/>
                </a:solidFill>
                <a:latin typeface="Nunito SemiBold"/>
                <a:ea typeface="Nunito SemiBold"/>
                <a:cs typeface="Nunito SemiBold"/>
                <a:sym typeface="Nunito SemiBold"/>
              </a:rPr>
              <a:t>Preparación Técnica</a:t>
            </a:r>
            <a:endParaRPr b="0" i="0" sz="1050" u="none" cap="none" strike="noStrike"/>
          </a:p>
        </p:txBody>
      </p:sp>
      <p:sp>
        <p:nvSpPr>
          <p:cNvPr id="194" name="Google Shape;194;p10"/>
          <p:cNvSpPr/>
          <p:nvPr/>
        </p:nvSpPr>
        <p:spPr>
          <a:xfrm>
            <a:off x="607442" y="4318620"/>
            <a:ext cx="4500116" cy="361652"/>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002E"/>
              </a:buClr>
              <a:buSzPts val="900"/>
              <a:buFont typeface="PT Sans"/>
              <a:buNone/>
            </a:pPr>
            <a:r>
              <a:rPr b="0" i="0" lang="en-US" sz="900" u="none" cap="none" strike="noStrike">
                <a:solidFill>
                  <a:srgbClr val="00002E"/>
                </a:solidFill>
                <a:latin typeface="PT Sans"/>
                <a:ea typeface="PT Sans"/>
                <a:cs typeface="PT Sans"/>
                <a:sym typeface="PT Sans"/>
              </a:rPr>
              <a:t>De momento no se les solicita tener ningún tipo de preparación Técnica para la siguiente semana.</a:t>
            </a:r>
            <a:endParaRPr b="0" i="0" sz="9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preencoded.png" id="200" name="Google Shape;200;p11"/>
          <p:cNvPicPr preferRelativeResize="0"/>
          <p:nvPr/>
        </p:nvPicPr>
        <p:blipFill rotWithShape="1">
          <a:blip r:embed="rId3">
            <a:alphaModFix/>
          </a:blip>
          <a:srcRect b="0" l="0" r="0" t="0"/>
          <a:stretch/>
        </p:blipFill>
        <p:spPr>
          <a:xfrm>
            <a:off x="2085156" y="922288"/>
            <a:ext cx="4973687" cy="34461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preencoded.png" id="206" name="Google Shape;206;p12"/>
          <p:cNvPicPr preferRelativeResize="0"/>
          <p:nvPr/>
        </p:nvPicPr>
        <p:blipFill rotWithShape="1">
          <a:blip r:embed="rId3">
            <a:alphaModFix/>
          </a:blip>
          <a:srcRect b="0" l="0" r="0" t="0"/>
          <a:stretch/>
        </p:blipFill>
        <p:spPr>
          <a:xfrm>
            <a:off x="0" y="0"/>
            <a:ext cx="9144000" cy="1227237"/>
          </a:xfrm>
          <a:prstGeom prst="rect">
            <a:avLst/>
          </a:prstGeom>
          <a:noFill/>
          <a:ln>
            <a:noFill/>
          </a:ln>
        </p:spPr>
      </p:pic>
      <p:sp>
        <p:nvSpPr>
          <p:cNvPr id="207" name="Google Shape;207;p12"/>
          <p:cNvSpPr/>
          <p:nvPr/>
        </p:nvSpPr>
        <p:spPr>
          <a:xfrm>
            <a:off x="928464" y="1523851"/>
            <a:ext cx="7286997" cy="1732657"/>
          </a:xfrm>
          <a:prstGeom prst="rect">
            <a:avLst/>
          </a:prstGeom>
          <a:noFill/>
          <a:ln>
            <a:noFill/>
          </a:ln>
        </p:spPr>
        <p:txBody>
          <a:bodyPr anchorCtr="0" anchor="t" bIns="0" lIns="0" spcFirstLastPara="1" rIns="0" wrap="square" tIns="0">
            <a:noAutofit/>
          </a:bodyPr>
          <a:lstStyle/>
          <a:p>
            <a:pPr indent="0" lvl="0" marL="0" marR="0" rtl="0" algn="l">
              <a:lnSpc>
                <a:spcPct val="124770"/>
              </a:lnSpc>
              <a:spcBef>
                <a:spcPts val="0"/>
              </a:spcBef>
              <a:spcAft>
                <a:spcPts val="0"/>
              </a:spcAft>
              <a:buClr>
                <a:srgbClr val="00002E"/>
              </a:buClr>
              <a:buSzPts val="5450"/>
              <a:buFont typeface="Nunito SemiBold"/>
              <a:buNone/>
            </a:pPr>
            <a:r>
              <a:rPr b="1" i="0" lang="en-US" sz="5450" u="none" cap="none" strike="noStrike">
                <a:solidFill>
                  <a:srgbClr val="00002E"/>
                </a:solidFill>
                <a:latin typeface="Nunito SemiBold"/>
                <a:ea typeface="Nunito SemiBold"/>
                <a:cs typeface="Nunito SemiBold"/>
                <a:sym typeface="Nunito SemiBold"/>
              </a:rPr>
              <a:t>Gracias por su atención</a:t>
            </a:r>
            <a:endParaRPr b="0" i="0" sz="5450" u="none" cap="none" strike="noStrike"/>
          </a:p>
        </p:txBody>
      </p:sp>
      <p:sp>
        <p:nvSpPr>
          <p:cNvPr id="208" name="Google Shape;208;p12"/>
          <p:cNvSpPr/>
          <p:nvPr/>
        </p:nvSpPr>
        <p:spPr>
          <a:xfrm>
            <a:off x="928482" y="3366950"/>
            <a:ext cx="3164700" cy="231900"/>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00002E"/>
              </a:buClr>
              <a:buSzPts val="1450"/>
              <a:buFont typeface="Nunito SemiBold"/>
              <a:buNone/>
            </a:pPr>
            <a:r>
              <a:rPr b="1" i="0" lang="en-US" sz="1450" u="none" cap="none" strike="noStrike">
                <a:solidFill>
                  <a:srgbClr val="00002E"/>
                </a:solidFill>
                <a:latin typeface="Nunito SemiBold"/>
                <a:ea typeface="Nunito SemiBold"/>
                <a:cs typeface="Nunito SemiBold"/>
                <a:sym typeface="Nunito SemiBold"/>
              </a:rPr>
              <a:t>Espacio para Preguntas</a:t>
            </a:r>
            <a:endParaRPr b="0" i="0" sz="1450" u="none" cap="none" strike="noStrike"/>
          </a:p>
        </p:txBody>
      </p:sp>
      <p:sp>
        <p:nvSpPr>
          <p:cNvPr id="209" name="Google Shape;209;p12"/>
          <p:cNvSpPr/>
          <p:nvPr/>
        </p:nvSpPr>
        <p:spPr>
          <a:xfrm>
            <a:off x="928464" y="3708425"/>
            <a:ext cx="7286997" cy="27473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2E"/>
              </a:buClr>
              <a:buSzPts val="750"/>
              <a:buFont typeface="PT Sans"/>
              <a:buNone/>
            </a:pPr>
            <a:r>
              <a:rPr b="0" i="0" lang="en-US" sz="750" u="none" cap="none" strike="noStrike">
                <a:solidFill>
                  <a:srgbClr val="00002E"/>
                </a:solidFill>
                <a:latin typeface="PT Sans"/>
                <a:ea typeface="PT Sans"/>
                <a:cs typeface="PT Sans"/>
                <a:sym typeface="PT Sans"/>
              </a:rPr>
              <a:t>Este es el momento para resolver cualquier duda sobre el curso, la metodología, las evaluaciones o la logística del laboratorio. No hay preguntas pequeñas: todas son importantes para garantizar que iniciemos el semestre con claridad y confianza.</a:t>
            </a:r>
            <a:endParaRPr b="0" i="0" sz="750" u="none" cap="none" strike="noStrike"/>
          </a:p>
        </p:txBody>
      </p:sp>
      <p:sp>
        <p:nvSpPr>
          <p:cNvPr id="210" name="Google Shape;210;p12"/>
          <p:cNvSpPr/>
          <p:nvPr/>
        </p:nvSpPr>
        <p:spPr>
          <a:xfrm>
            <a:off x="928482" y="4139574"/>
            <a:ext cx="2237100" cy="14430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00002E"/>
              </a:buClr>
              <a:buSzPts val="900"/>
              <a:buFont typeface="Nunito SemiBold"/>
              <a:buNone/>
            </a:pPr>
            <a:r>
              <a:rPr b="1" i="0" lang="en-US" sz="900" u="none" cap="none" strike="noStrike">
                <a:solidFill>
                  <a:srgbClr val="00002E"/>
                </a:solidFill>
                <a:latin typeface="Nunito SemiBold"/>
                <a:ea typeface="Nunito SemiBold"/>
                <a:cs typeface="Nunito SemiBold"/>
                <a:sym typeface="Nunito SemiBold"/>
              </a:rPr>
              <a:t>Canales de Comunicación</a:t>
            </a:r>
            <a:endParaRPr b="0" i="0" sz="900" u="none" cap="none" strike="noStrike"/>
          </a:p>
        </p:txBody>
      </p:sp>
      <p:sp>
        <p:nvSpPr>
          <p:cNvPr id="211" name="Google Shape;211;p12"/>
          <p:cNvSpPr/>
          <p:nvPr/>
        </p:nvSpPr>
        <p:spPr>
          <a:xfrm>
            <a:off x="928464" y="4357539"/>
            <a:ext cx="3523729" cy="463600"/>
          </a:xfrm>
          <a:prstGeom prst="rect">
            <a:avLst/>
          </a:prstGeom>
          <a:noFill/>
          <a:ln>
            <a:noFill/>
          </a:ln>
        </p:spPr>
        <p:txBody>
          <a:bodyPr anchorCtr="0" anchor="t" bIns="0" lIns="0" spcFirstLastPara="1" rIns="0" wrap="square" tIns="0">
            <a:noAutofit/>
          </a:bodyPr>
          <a:lstStyle/>
          <a:p>
            <a:pPr indent="-342900" lvl="0" marL="342900" marR="0" rtl="0" algn="l">
              <a:lnSpc>
                <a:spcPct val="140000"/>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3009917700101@ingenieria.usac.edu.gt</a:t>
            </a:r>
            <a:endParaRPr b="0" i="0" sz="750" u="none" cap="none" strike="noStrike"/>
          </a:p>
          <a:p>
            <a:pPr indent="-342900" lvl="0" marL="342900" marR="0" rtl="0" algn="l">
              <a:lnSpc>
                <a:spcPct val="140000"/>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Foros</a:t>
            </a:r>
            <a:endParaRPr b="0" i="0" sz="750" u="none" cap="none" strike="noStrike"/>
          </a:p>
          <a:p>
            <a:pPr indent="-342900" lvl="0" marL="342900" marR="0" rtl="0" algn="l">
              <a:lnSpc>
                <a:spcPct val="140000"/>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Uedi/Classroom</a:t>
            </a:r>
            <a:endParaRPr b="0" i="0" sz="750" u="none" cap="none" strike="noStrike"/>
          </a:p>
        </p:txBody>
      </p:sp>
      <p:sp>
        <p:nvSpPr>
          <p:cNvPr id="212" name="Google Shape;212;p12"/>
          <p:cNvSpPr/>
          <p:nvPr/>
        </p:nvSpPr>
        <p:spPr>
          <a:xfrm>
            <a:off x="4696420" y="4139580"/>
            <a:ext cx="1155055" cy="144363"/>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00002E"/>
              </a:buClr>
              <a:buSzPts val="900"/>
              <a:buFont typeface="Nunito SemiBold"/>
              <a:buNone/>
            </a:pPr>
            <a:r>
              <a:rPr b="1" i="0" lang="en-US" sz="900" u="none" cap="none" strike="noStrike">
                <a:solidFill>
                  <a:srgbClr val="00002E"/>
                </a:solidFill>
                <a:latin typeface="Nunito SemiBold"/>
                <a:ea typeface="Nunito SemiBold"/>
                <a:cs typeface="Nunito SemiBold"/>
                <a:sym typeface="Nunito SemiBold"/>
              </a:rPr>
              <a:t>Recursos Adicionales</a:t>
            </a:r>
            <a:endParaRPr b="0" i="0" sz="900" u="none" cap="none" strike="noStrike"/>
          </a:p>
        </p:txBody>
      </p:sp>
      <p:sp>
        <p:nvSpPr>
          <p:cNvPr id="213" name="Google Shape;213;p12"/>
          <p:cNvSpPr/>
          <p:nvPr/>
        </p:nvSpPr>
        <p:spPr>
          <a:xfrm>
            <a:off x="4696420" y="4357539"/>
            <a:ext cx="3523729" cy="300484"/>
          </a:xfrm>
          <a:prstGeom prst="rect">
            <a:avLst/>
          </a:prstGeom>
          <a:noFill/>
          <a:ln>
            <a:noFill/>
          </a:ln>
        </p:spPr>
        <p:txBody>
          <a:bodyPr anchorCtr="0" anchor="t" bIns="0" lIns="0" spcFirstLastPara="1" rIns="0" wrap="square" tIns="0">
            <a:noAutofit/>
          </a:bodyPr>
          <a:lstStyle/>
          <a:p>
            <a:pPr indent="-342900" lvl="0" marL="342900" marR="0" rtl="0" algn="l">
              <a:lnSpc>
                <a:spcPct val="140000"/>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Programa Del Curso</a:t>
            </a:r>
            <a:endParaRPr b="0" i="0" sz="750" u="none" cap="none" strike="noStrike"/>
          </a:p>
          <a:p>
            <a:pPr indent="-342900" lvl="0" marL="342900" marR="0" rtl="0" algn="l">
              <a:lnSpc>
                <a:spcPct val="140000"/>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PMBOOK</a:t>
            </a:r>
            <a:endParaRPr b="0" i="0" sz="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2026-05-16T01:59:56Z</dcterms:created>
</cp:coreProperties>
</file>